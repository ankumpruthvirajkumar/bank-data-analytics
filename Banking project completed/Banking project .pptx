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8" r:id="rId3"/>
    <p:sldId id="259" r:id="rId4"/>
    <p:sldId id="260" r:id="rId5"/>
    <p:sldId id="261" r:id="rId6"/>
    <p:sldId id="263" r:id="rId7"/>
    <p:sldId id="264" r:id="rId8"/>
    <p:sldId id="262" r:id="rId9"/>
    <p:sldId id="266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FE8"/>
    <a:srgbClr val="061A33"/>
    <a:srgbClr val="F7EAF0"/>
    <a:srgbClr val="FFFFFF"/>
    <a:srgbClr val="E71319"/>
    <a:srgbClr val="F0ECF6"/>
    <a:srgbClr val="4C3070"/>
    <a:srgbClr val="C9E5FF"/>
    <a:srgbClr val="F9E6EE"/>
    <a:srgbClr val="004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0" autoAdjust="0"/>
  </p:normalViewPr>
  <p:slideViewPr>
    <p:cSldViewPr snapToGrid="0" showGuides="1">
      <p:cViewPr varScale="1">
        <p:scale>
          <a:sx n="81" d="100"/>
          <a:sy n="81" d="100"/>
        </p:scale>
        <p:origin x="75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88AC-01FD-180C-2F88-D2AC03F95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2E619-DC7F-308D-5E70-7568CEBA5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B433C-20D1-58D6-949B-5AB9B5300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08332-90BE-64B4-B4E9-337A8654F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4C3DD-1F4D-75A6-D15D-32161465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12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D830-157F-B1BD-7CE0-A12DD345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F08E-E8E6-5A41-1E69-81E05FFBA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36375-115B-CA09-EEFF-D770BDE1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47095-73E5-C17A-AAB0-3F39997B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ACCBD-D3F2-DF7B-EAAF-EF884E56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869B-4C73-02B1-58EB-99555D5B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C5CF7-740D-ABB1-A091-249293D1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9E50-8AB0-77E4-A9AF-5A0FEFA4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568E4-AF98-FC4E-4FA3-C6110DF8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F55BC-990D-3512-4BBB-12F3B075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72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D263-D40A-5A16-A6DF-315FCEC0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BEB3-07CA-D05B-0318-F81907C1C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D8364-06ED-24A4-F49D-10C35D2A2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84A2A-BD04-B3B5-2BB5-66A858AF5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248E7-AAAC-A544-149F-5C1BD5CBF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9B2E9-5E87-9165-4720-1C0316AC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3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9287-6CB7-D127-732E-6CAF3C78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32DFF-C578-690E-9B05-E5EE76543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8F09D-5C4A-63AF-C8A6-96D499CB9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73F7F-3191-4641-E8DE-B9CAE96D0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CB5F8-7FB5-CC62-0DBF-5C4272205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C2E7EE-E9A3-B8E7-DF1F-E910FD42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5540C-FD3B-3736-5BBF-5CEC061F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5168-F790-1223-6505-E7C7C36B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6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65A3-A192-7DC3-F3FC-011B1B09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FA144-1E35-0B50-E5DF-B0C0AD26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81D25-3AEC-4204-9778-12A924D4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CD1DD-22AB-E62F-8073-977376B0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46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65786-6248-759B-99F9-B02B62A98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F02A5-1126-A976-C645-76C5D72E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025FE-65E0-B0B5-1152-BFA55F2A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2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D8CD-E5F9-67D4-DF9B-E28B57472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BA8D-205A-86E3-8774-7DC23F218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ED45A-605C-3662-0929-82A195F15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8945F-0C5B-D6FC-9D09-596F88C0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E618E-2481-51C3-02C3-490779B9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1CF82-427F-5CD8-F298-7EB3A237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34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7527-0D3B-5578-7B5F-9F4D2DAC0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66CFB-4A17-C6E8-360B-DD864A830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FDC01-10B8-1BCB-BB3B-92A61058F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8FEFA-0826-ADE7-321D-1947029A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4E3F1-FE5D-CFED-FC2A-4BCA3677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410E5-8D2B-3BAB-38E3-1F9767BC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26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AF76-6268-61C4-1CF2-5F6A3065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37523-6DBF-DA58-6D5C-A73675FCD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24EAB-B753-BF07-34BE-F74C82DA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64100-B7E8-ADF8-1597-935FE9787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0BB5-8863-DE11-1A87-664C44B6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10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58F06-E5F5-5FCD-6539-0C3F7BC02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01941-8602-67D4-1C4A-7B978BF87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8EBF-8B52-FE29-C35D-F0B858CD5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B00F7-5A61-2C18-6858-41295FAF3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5A82-84ED-BA26-B86B-22B17E8DB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48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453FF6-BB2A-BD92-71C2-A7F203CBE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D49FD-BBCB-9708-3F11-D3C00D1FA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F306A-EAA7-41F7-4FC2-1AEBFE3CD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75974-ED4C-4B25-8DB7-4915FDCBF85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F90C7-8C8B-FAF1-BC85-3C94503A8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A2D87-B9C0-E9C5-FF03-8A1EB3572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88431-C5F4-4F73-BE3F-C3D2FC223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32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the-difference-between-data-science-and-data-analytic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viewsreviews.blogspot.com/2011/01/axis-bank-q3-pat-up-36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en.wikipedia.org/wiki/HDFC_Bank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viewsreviews.blogspot.com/2011/01/axis-bank-q3-pat-up-36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viewsreviews.blogspot.com/2011/01/axis-bank-q3-pat-up-36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viewsreviews.blogspot.com/2011/01/axis-bank-q3-pat-up-36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usinessviewsreviews.blogspot.com/2011/01/axis-bank-q3-pat-up-36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usinessviewsreviews.blogspot.com/2011/01/axis-bank-q3-pat-up-36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usinessviewsreviews.blogspot.com/2011/01/axis-bank-q3-pat-up-36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DFC_Ban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DFC_Ban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HDFC_Bank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HDFC_Bank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DFC_Ban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HDFC_Bank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3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2681E9D-026D-4D28-67A6-7FF4AF22F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811" y="0"/>
            <a:ext cx="12161189" cy="6875419"/>
          </a:xfrm>
          <a:prstGeom prst="rect">
            <a:avLst/>
          </a:prstGeom>
          <a:noFill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3E81F09-3EA4-2C96-644D-FAF6D2BA1C15}"/>
              </a:ext>
            </a:extLst>
          </p:cNvPr>
          <p:cNvSpPr/>
          <p:nvPr/>
        </p:nvSpPr>
        <p:spPr>
          <a:xfrm>
            <a:off x="2050330" y="426695"/>
            <a:ext cx="8182466" cy="808216"/>
          </a:xfrm>
          <a:prstGeom prst="rect">
            <a:avLst/>
          </a:prstGeom>
          <a:solidFill>
            <a:srgbClr val="061A33">
              <a:alpha val="50000"/>
            </a:srgbClr>
          </a:solidFill>
          <a:ln>
            <a:solidFill>
              <a:srgbClr val="061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81E1C-701B-A3A1-391B-6A79FB00AB9D}"/>
              </a:ext>
            </a:extLst>
          </p:cNvPr>
          <p:cNvSpPr txBox="1"/>
          <p:nvPr/>
        </p:nvSpPr>
        <p:spPr>
          <a:xfrm>
            <a:off x="2290713" y="426695"/>
            <a:ext cx="7701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CFE8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BANKING ANALYTICS PROJECT</a:t>
            </a:r>
            <a:endParaRPr lang="en-US" sz="4000" dirty="0">
              <a:solidFill>
                <a:srgbClr val="00CFE8"/>
              </a:solidFill>
              <a:latin typeface="Algerian" panose="04020705040A02060702" pitchFamily="8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1EDAEF-71D9-67E6-27E0-50726A2380EE}"/>
              </a:ext>
            </a:extLst>
          </p:cNvPr>
          <p:cNvSpPr/>
          <p:nvPr/>
        </p:nvSpPr>
        <p:spPr>
          <a:xfrm>
            <a:off x="300087" y="3411414"/>
            <a:ext cx="4290767" cy="2913972"/>
          </a:xfrm>
          <a:prstGeom prst="rect">
            <a:avLst/>
          </a:prstGeom>
          <a:solidFill>
            <a:srgbClr val="061A33">
              <a:alpha val="50000"/>
            </a:srgbClr>
          </a:solidFill>
          <a:ln>
            <a:solidFill>
              <a:srgbClr val="061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D11A1-98A8-171C-F65B-4BAAAAF8AC68}"/>
              </a:ext>
            </a:extLst>
          </p:cNvPr>
          <p:cNvSpPr txBox="1"/>
          <p:nvPr/>
        </p:nvSpPr>
        <p:spPr>
          <a:xfrm>
            <a:off x="367646" y="3429000"/>
            <a:ext cx="3780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kern="0" spc="100" dirty="0">
                <a:solidFill>
                  <a:srgbClr val="00CFE8"/>
                </a:solidFill>
                <a:latin typeface="Aptos" panose="020B0004020202020204" pitchFamily="34" charset="0"/>
              </a:rPr>
              <a:t>GROUP MEMBERS</a:t>
            </a:r>
            <a:endParaRPr lang="en-US" sz="2000" dirty="0">
              <a:solidFill>
                <a:srgbClr val="00CFE8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DEE497-917A-5937-228C-5AE67300F2A3}"/>
              </a:ext>
            </a:extLst>
          </p:cNvPr>
          <p:cNvSpPr/>
          <p:nvPr/>
        </p:nvSpPr>
        <p:spPr>
          <a:xfrm>
            <a:off x="2400693" y="1595548"/>
            <a:ext cx="8182466" cy="1571858"/>
          </a:xfrm>
          <a:prstGeom prst="rect">
            <a:avLst/>
          </a:prstGeom>
          <a:solidFill>
            <a:srgbClr val="061A33">
              <a:alpha val="50000"/>
            </a:srgbClr>
          </a:solidFill>
          <a:ln>
            <a:solidFill>
              <a:srgbClr val="061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468AC-F987-1D7A-EFBC-C7F5C5AFEF42}"/>
              </a:ext>
            </a:extLst>
          </p:cNvPr>
          <p:cNvSpPr txBox="1"/>
          <p:nvPr/>
        </p:nvSpPr>
        <p:spPr>
          <a:xfrm>
            <a:off x="2564091" y="1683368"/>
            <a:ext cx="78808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BANK DATA  ANALYSTICS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AND</a:t>
            </a:r>
            <a:br>
              <a:rPr lang="en-US" sz="2800" b="1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DEBIT AND CREDIT BANKING DATA</a:t>
            </a:r>
            <a:endParaRPr lang="en-IN" sz="28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02EB37-D9A9-5B2F-A855-EDE1605EA7EE}"/>
              </a:ext>
            </a:extLst>
          </p:cNvPr>
          <p:cNvSpPr txBox="1"/>
          <p:nvPr/>
        </p:nvSpPr>
        <p:spPr>
          <a:xfrm>
            <a:off x="367646" y="3829110"/>
            <a:ext cx="5542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bg1"/>
                </a:solidFill>
                <a:latin typeface="Bodoni Bd BT" panose="02070803080706020303" pitchFamily="18" charset="0"/>
              </a:rPr>
              <a:t>Karthik M 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bg1"/>
                </a:solidFill>
                <a:latin typeface="Bodoni Bd BT" panose="02070803080706020303" pitchFamily="18" charset="0"/>
              </a:rPr>
              <a:t>Ganesh Ram 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bg1"/>
                </a:solidFill>
                <a:latin typeface="Bodoni Bd BT" panose="02070803080706020303" pitchFamily="18" charset="0"/>
              </a:rPr>
              <a:t>Samreen Saba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bg1"/>
                </a:solidFill>
                <a:latin typeface="Bodoni Bd BT" panose="02070803080706020303" pitchFamily="18" charset="0"/>
              </a:rPr>
              <a:t>Alekhya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bg1"/>
                </a:solidFill>
                <a:latin typeface="Bodoni Bd BT" panose="02070803080706020303" pitchFamily="18" charset="0"/>
              </a:rPr>
              <a:t>Mamta Sharma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bg1"/>
                </a:solidFill>
                <a:latin typeface="Bodoni Bd BT" panose="02070803080706020303" pitchFamily="18" charset="0"/>
              </a:rPr>
              <a:t>Ankum Pruthvi Raj Kumar</a:t>
            </a:r>
          </a:p>
        </p:txBody>
      </p:sp>
    </p:spTree>
    <p:extLst>
      <p:ext uri="{BB962C8B-B14F-4D97-AF65-F5344CB8AC3E}">
        <p14:creationId xmlns:p14="http://schemas.microsoft.com/office/powerpoint/2010/main" val="79240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743C2C-147A-23CB-8CE6-07F77C6D04F5}"/>
              </a:ext>
            </a:extLst>
          </p:cNvPr>
          <p:cNvSpPr/>
          <p:nvPr/>
        </p:nvSpPr>
        <p:spPr>
          <a:xfrm>
            <a:off x="-25138" y="0"/>
            <a:ext cx="6121138" cy="313176"/>
          </a:xfrm>
          <a:prstGeom prst="rect">
            <a:avLst/>
          </a:prstGeom>
          <a:solidFill>
            <a:srgbClr val="971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9855DA-8468-199E-2F9C-AA6BDAAD7E8E}"/>
              </a:ext>
            </a:extLst>
          </p:cNvPr>
          <p:cNvSpPr/>
          <p:nvPr/>
        </p:nvSpPr>
        <p:spPr>
          <a:xfrm>
            <a:off x="6070862" y="0"/>
            <a:ext cx="6121138" cy="313176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1C3B87-83B3-0B2F-8501-528277240A2D}"/>
              </a:ext>
            </a:extLst>
          </p:cNvPr>
          <p:cNvSpPr txBox="1"/>
          <p:nvPr/>
        </p:nvSpPr>
        <p:spPr>
          <a:xfrm>
            <a:off x="122548" y="772998"/>
            <a:ext cx="1092566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I will be presenting two banking analytics dashboards.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97144D"/>
                </a:solidFill>
                <a:latin typeface="Arial" panose="020B0604020202020204" pitchFamily="34" charset="0"/>
              </a:rPr>
              <a:t>First, Bank Credit and Debit Card Analysis Dashboard</a:t>
            </a:r>
            <a:r>
              <a:rPr lang="en-US" altLang="en-US" sz="2400" b="1" dirty="0">
                <a:latin typeface="Arial" panose="020B0604020202020204" pitchFamily="34" charset="0"/>
              </a:rPr>
              <a:t>:</a:t>
            </a:r>
            <a:r>
              <a:rPr lang="en-US" altLang="en-US" sz="2400" dirty="0">
                <a:latin typeface="Arial" panose="020B0604020202020204" pitchFamily="34" charset="0"/>
              </a:rPr>
              <a:t> This dashboard focuses on credit and debit transactions, monthly trends, bank-wise and branch-wise performance, transaction methods, and high-risk transactions.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004B8D"/>
                </a:solidFill>
                <a:latin typeface="Arial" panose="020B0604020202020204" pitchFamily="34" charset="0"/>
              </a:rPr>
              <a:t>Second, Bank Loan Analytics Dashboard</a:t>
            </a:r>
            <a:r>
              <a:rPr lang="en-US" altLang="en-US" sz="2400" b="1" dirty="0">
                <a:latin typeface="Arial" panose="020B0604020202020204" pitchFamily="34" charset="0"/>
              </a:rPr>
              <a:t>:</a:t>
            </a:r>
            <a:r>
              <a:rPr lang="en-US" altLang="en-US" sz="2400" dirty="0">
                <a:latin typeface="Arial" panose="020B0604020202020204" pitchFamily="34" charset="0"/>
              </a:rPr>
              <a:t> This dashboard focuses on loan amounts, interest, loan status, customer age groups, credit grades, and default rates.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Both dashboards help identify important trends, understand potential risks, and support better data-driven banking decisions.</a:t>
            </a:r>
          </a:p>
          <a:p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D3B202-FCD1-99E7-733E-039E50862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2548" y="772998"/>
            <a:ext cx="1568132" cy="5365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4318C4-EFDA-D04F-DCAF-F40D0846E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82659" y="814170"/>
            <a:ext cx="1734533" cy="4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5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641F0-6C53-3AFE-464D-BBEFFB51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9D8ECF-98A2-C402-22AF-C12DEA011EC9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71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CB82C-2BC9-2835-F526-E241B6170D42}"/>
              </a:ext>
            </a:extLst>
          </p:cNvPr>
          <p:cNvSpPr txBox="1"/>
          <p:nvPr/>
        </p:nvSpPr>
        <p:spPr>
          <a:xfrm>
            <a:off x="199103" y="356107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u="sng" dirty="0">
                <a:latin typeface="Aptos" panose="020B0004020202020204" pitchFamily="34" charset="0"/>
              </a:rPr>
              <a:t>Data analysis workflow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802265-AC8D-A196-3CCB-4390A836C7FE}"/>
              </a:ext>
            </a:extLst>
          </p:cNvPr>
          <p:cNvSpPr/>
          <p:nvPr/>
        </p:nvSpPr>
        <p:spPr>
          <a:xfrm>
            <a:off x="501445" y="1769803"/>
            <a:ext cx="2286000" cy="3200400"/>
          </a:xfrm>
          <a:prstGeom prst="roundRect">
            <a:avLst/>
          </a:prstGeom>
          <a:solidFill>
            <a:srgbClr val="F9E6EE"/>
          </a:solidFill>
          <a:ln w="19050">
            <a:solidFill>
              <a:srgbClr val="971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AD7FC5-7409-6927-B0CF-EA2C7ACEB4D6}"/>
              </a:ext>
            </a:extLst>
          </p:cNvPr>
          <p:cNvSpPr/>
          <p:nvPr/>
        </p:nvSpPr>
        <p:spPr>
          <a:xfrm>
            <a:off x="9429135" y="1769803"/>
            <a:ext cx="2286000" cy="3200400"/>
          </a:xfrm>
          <a:prstGeom prst="roundRect">
            <a:avLst/>
          </a:prstGeom>
          <a:solidFill>
            <a:srgbClr val="F9E6EE"/>
          </a:solidFill>
          <a:ln w="19050">
            <a:solidFill>
              <a:srgbClr val="971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F53ED8-AB81-2F4B-1F3E-CB383D5C1C70}"/>
              </a:ext>
            </a:extLst>
          </p:cNvPr>
          <p:cNvSpPr/>
          <p:nvPr/>
        </p:nvSpPr>
        <p:spPr>
          <a:xfrm>
            <a:off x="6453239" y="1769803"/>
            <a:ext cx="2286000" cy="3200400"/>
          </a:xfrm>
          <a:prstGeom prst="roundRect">
            <a:avLst/>
          </a:prstGeom>
          <a:solidFill>
            <a:srgbClr val="F9E6EE"/>
          </a:solidFill>
          <a:ln w="19050">
            <a:solidFill>
              <a:srgbClr val="971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1B80F8-B0DC-FA65-3992-437A34000C04}"/>
              </a:ext>
            </a:extLst>
          </p:cNvPr>
          <p:cNvSpPr/>
          <p:nvPr/>
        </p:nvSpPr>
        <p:spPr>
          <a:xfrm>
            <a:off x="3477342" y="1769803"/>
            <a:ext cx="2286000" cy="3200400"/>
          </a:xfrm>
          <a:prstGeom prst="roundRect">
            <a:avLst/>
          </a:prstGeom>
          <a:solidFill>
            <a:srgbClr val="F9E6EE"/>
          </a:solidFill>
          <a:ln w="19050">
            <a:solidFill>
              <a:srgbClr val="971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E6FF6-99FB-7EF0-C5B5-753F97A0377F}"/>
              </a:ext>
            </a:extLst>
          </p:cNvPr>
          <p:cNvSpPr txBox="1"/>
          <p:nvPr/>
        </p:nvSpPr>
        <p:spPr>
          <a:xfrm>
            <a:off x="1366683" y="1946788"/>
            <a:ext cx="422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A83CBB-C127-7F9C-69C9-92B116E5A8FE}"/>
              </a:ext>
            </a:extLst>
          </p:cNvPr>
          <p:cNvSpPr txBox="1"/>
          <p:nvPr/>
        </p:nvSpPr>
        <p:spPr>
          <a:xfrm>
            <a:off x="4383958" y="1946788"/>
            <a:ext cx="294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33466B-CC94-76C1-C050-12B080C1111E}"/>
              </a:ext>
            </a:extLst>
          </p:cNvPr>
          <p:cNvSpPr txBox="1"/>
          <p:nvPr/>
        </p:nvSpPr>
        <p:spPr>
          <a:xfrm>
            <a:off x="7189837" y="1946787"/>
            <a:ext cx="481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09747-7CB3-D939-743C-CD63732083B9}"/>
              </a:ext>
            </a:extLst>
          </p:cNvPr>
          <p:cNvSpPr txBox="1"/>
          <p:nvPr/>
        </p:nvSpPr>
        <p:spPr>
          <a:xfrm>
            <a:off x="10368116" y="1946787"/>
            <a:ext cx="38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995342-9230-BBFE-A82D-9EC6187EA035}"/>
              </a:ext>
            </a:extLst>
          </p:cNvPr>
          <p:cNvSpPr txBox="1"/>
          <p:nvPr/>
        </p:nvSpPr>
        <p:spPr>
          <a:xfrm>
            <a:off x="501445" y="2711105"/>
            <a:ext cx="215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Prepare data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145EE-B680-522B-2BCE-106BE9E77D8C}"/>
              </a:ext>
            </a:extLst>
          </p:cNvPr>
          <p:cNvSpPr txBox="1"/>
          <p:nvPr/>
        </p:nvSpPr>
        <p:spPr>
          <a:xfrm>
            <a:off x="9576619" y="2693758"/>
            <a:ext cx="215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73CA03-CD67-174D-0C1E-42C0A96932FA}"/>
              </a:ext>
            </a:extLst>
          </p:cNvPr>
          <p:cNvSpPr txBox="1"/>
          <p:nvPr/>
        </p:nvSpPr>
        <p:spPr>
          <a:xfrm>
            <a:off x="6354096" y="2711105"/>
            <a:ext cx="215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 slicers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7C47B-E430-9A45-8DE7-4DA28727492C}"/>
              </a:ext>
            </a:extLst>
          </p:cNvPr>
          <p:cNvSpPr txBox="1"/>
          <p:nvPr/>
        </p:nvSpPr>
        <p:spPr>
          <a:xfrm>
            <a:off x="3642852" y="2693758"/>
            <a:ext cx="215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Build dashboard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B7D265-59FB-47DF-5EFD-3A9082243B94}"/>
              </a:ext>
            </a:extLst>
          </p:cNvPr>
          <p:cNvSpPr txBox="1"/>
          <p:nvPr/>
        </p:nvSpPr>
        <p:spPr>
          <a:xfrm>
            <a:off x="533401" y="3344627"/>
            <a:ext cx="204511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 and format the 100,000 transaction rows (dates, flags, categories)</a:t>
            </a:r>
            <a:endParaRPr lang="en-US" sz="1600" dirty="0"/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1BCC9-48BB-F34F-DC21-4B3B41F793FA}"/>
              </a:ext>
            </a:extLst>
          </p:cNvPr>
          <p:cNvSpPr txBox="1"/>
          <p:nvPr/>
        </p:nvSpPr>
        <p:spPr>
          <a:xfrm>
            <a:off x="9576619" y="3344624"/>
            <a:ext cx="20451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Compare SQL KPI queries (MySQL) with the dashboard values</a:t>
            </a:r>
            <a:endParaRPr lang="en-US" sz="1600" dirty="0"/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D2172B-81A9-4261-6903-EAEDE837AC7C}"/>
              </a:ext>
            </a:extLst>
          </p:cNvPr>
          <p:cNvSpPr txBox="1"/>
          <p:nvPr/>
        </p:nvSpPr>
        <p:spPr>
          <a:xfrm>
            <a:off x="6573684" y="3344624"/>
            <a:ext cx="204511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Filters: Risk Flag, Bank Name, Branch, Transaction Method, Date, and Transaction Type.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CCA859-23FF-794B-F8B5-7D06944DA968}"/>
              </a:ext>
            </a:extLst>
          </p:cNvPr>
          <p:cNvSpPr txBox="1"/>
          <p:nvPr/>
        </p:nvSpPr>
        <p:spPr>
          <a:xfrm>
            <a:off x="3554362" y="3344626"/>
            <a:ext cx="204511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Analyzed banking data using Excel, SQL, Power BI, and Tableau to track KPIs, trends, and risks.</a:t>
            </a:r>
          </a:p>
          <a:p>
            <a:endParaRPr lang="en-IN" dirty="0"/>
          </a:p>
        </p:txBody>
      </p:sp>
      <p:sp>
        <p:nvSpPr>
          <p:cNvPr id="27" name="Shape 30">
            <a:extLst>
              <a:ext uri="{FF2B5EF4-FFF2-40B4-BE49-F238E27FC236}">
                <a16:creationId xmlns:a16="http://schemas.microsoft.com/office/drawing/2014/main" id="{24170047-98B5-DD60-2F71-2FE017460E2C}"/>
              </a:ext>
            </a:extLst>
          </p:cNvPr>
          <p:cNvSpPr/>
          <p:nvPr/>
        </p:nvSpPr>
        <p:spPr>
          <a:xfrm>
            <a:off x="362146" y="5252255"/>
            <a:ext cx="11467707" cy="1318499"/>
          </a:xfrm>
          <a:prstGeom prst="rect">
            <a:avLst/>
          </a:prstGeom>
          <a:solidFill>
            <a:srgbClr val="F9E6EE"/>
          </a:solidFill>
          <a:ln w="19050">
            <a:solidFill>
              <a:srgbClr val="97144D"/>
            </a:solidFill>
            <a:prstDash val="solid"/>
          </a:ln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ptos" panose="020B0004020202020204" pitchFamily="34" charset="0"/>
              </a:rPr>
              <a:t>Data Cleaning: </a:t>
            </a:r>
            <a:r>
              <a:rPr lang="en-US" altLang="en-US" sz="2000" dirty="0">
                <a:latin typeface="Aptos" panose="020B0004020202020204" pitchFamily="34" charset="0"/>
              </a:rPr>
              <a:t>Used Excel to clean the data, handle missing values, and ensure data quality.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ptos" panose="020B0004020202020204" pitchFamily="34" charset="0"/>
              </a:rPr>
              <a:t>Data Analysis: </a:t>
            </a:r>
            <a:r>
              <a:rPr lang="en-US" altLang="en-US" sz="2000" dirty="0">
                <a:latin typeface="Aptos" panose="020B0004020202020204" pitchFamily="34" charset="0"/>
              </a:rPr>
              <a:t>Used SQL to analyze transactions, calculate KPIs, and identify trends and risks.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ptos" panose="020B0004020202020204" pitchFamily="34" charset="0"/>
              </a:rPr>
              <a:t>Visualization: </a:t>
            </a:r>
            <a:r>
              <a:rPr lang="en-US" altLang="en-US" sz="2000" dirty="0">
                <a:latin typeface="Aptos" panose="020B0004020202020204" pitchFamily="34" charset="0"/>
              </a:rPr>
              <a:t>Created interactive dashboards in Excel, Power BI and Tableau to present insights and compare bank and branch performance.</a:t>
            </a:r>
            <a:endParaRPr lang="en-US" altLang="en-US" sz="2000" b="1" dirty="0">
              <a:latin typeface="Aptos" panose="020B0004020202020204" pitchFamily="34" charset="0"/>
            </a:endParaRPr>
          </a:p>
          <a:p>
            <a:endParaRPr lang="en-IN" sz="2000" b="1" dirty="0">
              <a:latin typeface="Aptos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95B430-0238-6BDB-235F-85F7B954D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653251" y="374960"/>
            <a:ext cx="1319753" cy="45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3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DAE77-CC23-EC96-732D-7C873C99C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3C5E4F-C587-C675-A47C-6692A031CC67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71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38DB05-D939-8127-A55F-D911714369C2}"/>
              </a:ext>
            </a:extLst>
          </p:cNvPr>
          <p:cNvSpPr txBox="1"/>
          <p:nvPr/>
        </p:nvSpPr>
        <p:spPr>
          <a:xfrm>
            <a:off x="117987" y="363794"/>
            <a:ext cx="3716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KPI overview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B9C36C-8234-F25D-7592-C7B3EA4A90F1}"/>
              </a:ext>
            </a:extLst>
          </p:cNvPr>
          <p:cNvSpPr/>
          <p:nvPr/>
        </p:nvSpPr>
        <p:spPr>
          <a:xfrm>
            <a:off x="361361" y="1560576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0FB1B97-436E-4F65-6A4D-AC76B35A3414}"/>
              </a:ext>
            </a:extLst>
          </p:cNvPr>
          <p:cNvSpPr txBox="1"/>
          <p:nvPr/>
        </p:nvSpPr>
        <p:spPr>
          <a:xfrm>
            <a:off x="456894" y="1648405"/>
            <a:ext cx="24755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₹12.76 Cr</a:t>
            </a:r>
            <a:endParaRPr lang="en-US" sz="2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B4DBF38A-4CB8-6D72-D585-0C496B8C7BC6}"/>
              </a:ext>
            </a:extLst>
          </p:cNvPr>
          <p:cNvSpPr txBox="1"/>
          <p:nvPr/>
        </p:nvSpPr>
        <p:spPr>
          <a:xfrm>
            <a:off x="383426" y="2110447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Total Credit Amount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E66F9FA4-2CBD-B238-6106-AE2E50C37A5B}"/>
              </a:ext>
            </a:extLst>
          </p:cNvPr>
          <p:cNvSpPr/>
          <p:nvPr/>
        </p:nvSpPr>
        <p:spPr>
          <a:xfrm>
            <a:off x="3262698" y="1560576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B8129DE-C8C2-A8F3-420D-E73ABFB0F62F}"/>
              </a:ext>
            </a:extLst>
          </p:cNvPr>
          <p:cNvSpPr txBox="1"/>
          <p:nvPr/>
        </p:nvSpPr>
        <p:spPr>
          <a:xfrm>
            <a:off x="3348352" y="1653471"/>
            <a:ext cx="2511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₹12.73 Cr</a:t>
            </a:r>
            <a:endParaRPr lang="en-US" sz="24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67D2249-2057-C13B-7A22-F46F2DF2DD9A}"/>
              </a:ext>
            </a:extLst>
          </p:cNvPr>
          <p:cNvSpPr txBox="1"/>
          <p:nvPr/>
        </p:nvSpPr>
        <p:spPr>
          <a:xfrm>
            <a:off x="3337858" y="2110447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Total Debit Amount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D344830-F797-1207-13FE-F4C706EA8B91}"/>
              </a:ext>
            </a:extLst>
          </p:cNvPr>
          <p:cNvSpPr/>
          <p:nvPr/>
        </p:nvSpPr>
        <p:spPr>
          <a:xfrm>
            <a:off x="6164035" y="1560576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C64F411-A75C-292B-2803-23ED68ADBF52}"/>
              </a:ext>
            </a:extLst>
          </p:cNvPr>
          <p:cNvSpPr txBox="1"/>
          <p:nvPr/>
        </p:nvSpPr>
        <p:spPr>
          <a:xfrm>
            <a:off x="6239195" y="1648405"/>
            <a:ext cx="26540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4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6B1515EE-C564-0D19-653B-E911430C8AA4}"/>
              </a:ext>
            </a:extLst>
          </p:cNvPr>
          <p:cNvSpPr txBox="1"/>
          <p:nvPr/>
        </p:nvSpPr>
        <p:spPr>
          <a:xfrm>
            <a:off x="6239196" y="2110447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1405863B-9D72-63C4-D19C-5E812D39CF4D}"/>
              </a:ext>
            </a:extLst>
          </p:cNvPr>
          <p:cNvSpPr/>
          <p:nvPr/>
        </p:nvSpPr>
        <p:spPr>
          <a:xfrm>
            <a:off x="9065373" y="1560576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CEB427EC-85C0-13D3-D298-F3BCB4ACEA05}"/>
              </a:ext>
            </a:extLst>
          </p:cNvPr>
          <p:cNvSpPr txBox="1"/>
          <p:nvPr/>
        </p:nvSpPr>
        <p:spPr>
          <a:xfrm>
            <a:off x="9254811" y="1648405"/>
            <a:ext cx="23643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1.0025</a:t>
            </a:r>
            <a:endParaRPr lang="en-US" sz="24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7375045-D270-203D-F7CC-D8964BFBDD4B}"/>
              </a:ext>
            </a:extLst>
          </p:cNvPr>
          <p:cNvSpPr txBox="1"/>
          <p:nvPr/>
        </p:nvSpPr>
        <p:spPr>
          <a:xfrm>
            <a:off x="9167082" y="2110447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Credit to Debit Ratio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C4FC858-70F8-2578-71F0-4E2BAC22B769}"/>
              </a:ext>
            </a:extLst>
          </p:cNvPr>
          <p:cNvSpPr/>
          <p:nvPr/>
        </p:nvSpPr>
        <p:spPr>
          <a:xfrm>
            <a:off x="1946989" y="3356438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D1A8A8C3-4799-A8EE-1748-368304A4C06C}"/>
              </a:ext>
            </a:extLst>
          </p:cNvPr>
          <p:cNvSpPr txBox="1"/>
          <p:nvPr/>
        </p:nvSpPr>
        <p:spPr>
          <a:xfrm>
            <a:off x="2157546" y="3417297"/>
            <a:ext cx="2273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₹318.12K</a:t>
            </a:r>
            <a:endParaRPr lang="en-US" sz="24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F1B2411-D999-3A56-3FAB-774FAD257900}"/>
              </a:ext>
            </a:extLst>
          </p:cNvPr>
          <p:cNvSpPr txBox="1"/>
          <p:nvPr/>
        </p:nvSpPr>
        <p:spPr>
          <a:xfrm>
            <a:off x="1976752" y="3872333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 Transaction Amount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408190D-3EE1-B1D4-D70D-9256714F3211}"/>
              </a:ext>
            </a:extLst>
          </p:cNvPr>
          <p:cNvSpPr/>
          <p:nvPr/>
        </p:nvSpPr>
        <p:spPr>
          <a:xfrm>
            <a:off x="4853562" y="3356438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D4EB6238-B6FB-1EF7-58ED-C4D7E4A2EAC7}"/>
              </a:ext>
            </a:extLst>
          </p:cNvPr>
          <p:cNvSpPr txBox="1"/>
          <p:nvPr/>
        </p:nvSpPr>
        <p:spPr>
          <a:xfrm>
            <a:off x="5020458" y="3420315"/>
            <a:ext cx="22106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24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229DCED7-5CC2-41E5-028E-2E89111723C4}"/>
              </a:ext>
            </a:extLst>
          </p:cNvPr>
          <p:cNvSpPr txBox="1"/>
          <p:nvPr/>
        </p:nvSpPr>
        <p:spPr>
          <a:xfrm>
            <a:off x="4924364" y="3872333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 Risk Transactions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418D7A9-6FEA-45FE-0D29-A8B3172BE142}"/>
              </a:ext>
            </a:extLst>
          </p:cNvPr>
          <p:cNvSpPr/>
          <p:nvPr/>
        </p:nvSpPr>
        <p:spPr>
          <a:xfrm>
            <a:off x="7760135" y="3356438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F32FAC80-79B2-0FF6-7DAF-A30DF0D763D1}"/>
              </a:ext>
            </a:extLst>
          </p:cNvPr>
          <p:cNvSpPr txBox="1"/>
          <p:nvPr/>
        </p:nvSpPr>
        <p:spPr>
          <a:xfrm>
            <a:off x="7961347" y="3417297"/>
            <a:ext cx="22080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0.00019</a:t>
            </a:r>
            <a:endParaRPr lang="en-US" sz="2400" dirty="0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3BF40FAD-CDF6-3676-FE66-AB17BDBF4D88}"/>
              </a:ext>
            </a:extLst>
          </p:cNvPr>
          <p:cNvSpPr txBox="1"/>
          <p:nvPr/>
        </p:nvSpPr>
        <p:spPr>
          <a:xfrm>
            <a:off x="7871977" y="3872333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A0B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Account Activity Ratio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FE48005F-118F-7A78-F784-EC2E47230171}"/>
              </a:ext>
            </a:extLst>
          </p:cNvPr>
          <p:cNvSpPr/>
          <p:nvPr/>
        </p:nvSpPr>
        <p:spPr>
          <a:xfrm>
            <a:off x="362931" y="5520569"/>
            <a:ext cx="11467707" cy="384048"/>
          </a:xfrm>
          <a:prstGeom prst="rect">
            <a:avLst/>
          </a:prstGeom>
          <a:solidFill>
            <a:srgbClr val="F9E6EE"/>
          </a:solidFill>
          <a:ln w="19050">
            <a:solidFill>
              <a:srgbClr val="97144D"/>
            </a:solidFill>
            <a:prstDash val="solid"/>
          </a:ln>
        </p:spPr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D9D9CC2B-3988-C534-3A00-59A47565B049}"/>
              </a:ext>
            </a:extLst>
          </p:cNvPr>
          <p:cNvSpPr txBox="1"/>
          <p:nvPr/>
        </p:nvSpPr>
        <p:spPr>
          <a:xfrm>
            <a:off x="171922" y="5520569"/>
            <a:ext cx="114472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0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KPIs give a quick view of the overall position before the detailed analysis.</a:t>
            </a:r>
            <a:endParaRPr lang="en-US" sz="2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6163EFE-30AF-6391-0EF6-48550E726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872247" y="348119"/>
            <a:ext cx="1319753" cy="45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6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B6532-6187-1963-382E-B1B66C66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">
            <a:extLst>
              <a:ext uri="{FF2B5EF4-FFF2-40B4-BE49-F238E27FC236}">
                <a16:creationId xmlns:a16="http://schemas.microsoft.com/office/drawing/2014/main" id="{BAC4780E-7189-0375-0277-0F6292743442}"/>
              </a:ext>
            </a:extLst>
          </p:cNvPr>
          <p:cNvSpPr/>
          <p:nvPr/>
        </p:nvSpPr>
        <p:spPr>
          <a:xfrm>
            <a:off x="1188258" y="1315175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A9B44A0C-3F29-4E41-72FD-657C5E9D46E7}"/>
              </a:ext>
            </a:extLst>
          </p:cNvPr>
          <p:cNvSpPr/>
          <p:nvPr/>
        </p:nvSpPr>
        <p:spPr>
          <a:xfrm>
            <a:off x="4240021" y="1324319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3B0AF26A-F4E8-5E80-E045-8C0FED74A69F}"/>
              </a:ext>
            </a:extLst>
          </p:cNvPr>
          <p:cNvSpPr/>
          <p:nvPr/>
        </p:nvSpPr>
        <p:spPr>
          <a:xfrm>
            <a:off x="7291784" y="1296697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8CA6A11F-234A-B145-846E-0188F0B05DCB}"/>
              </a:ext>
            </a:extLst>
          </p:cNvPr>
          <p:cNvSpPr/>
          <p:nvPr/>
        </p:nvSpPr>
        <p:spPr>
          <a:xfrm>
            <a:off x="1215947" y="3180060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0873C979-31F6-89A6-BA19-F2B7AD8EEEDA}"/>
              </a:ext>
            </a:extLst>
          </p:cNvPr>
          <p:cNvSpPr/>
          <p:nvPr/>
        </p:nvSpPr>
        <p:spPr>
          <a:xfrm>
            <a:off x="4226943" y="3202366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1E473A11-82AB-6169-08B0-8802067AFF7A}"/>
              </a:ext>
            </a:extLst>
          </p:cNvPr>
          <p:cNvSpPr/>
          <p:nvPr/>
        </p:nvSpPr>
        <p:spPr>
          <a:xfrm>
            <a:off x="7291784" y="3180060"/>
            <a:ext cx="2743200" cy="1554480"/>
          </a:xfrm>
          <a:prstGeom prst="roundRect">
            <a:avLst>
              <a:gd name="adj" fmla="val 5161"/>
            </a:avLst>
          </a:prstGeom>
          <a:solidFill>
            <a:srgbClr val="F9E6EE"/>
          </a:solidFill>
          <a:ln w="19050">
            <a:solidFill>
              <a:srgbClr val="9B155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F60AD-DDEB-ED7D-7B7E-A9EDA3250069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71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A609506-025A-493C-A35C-273357313C4B}"/>
              </a:ext>
            </a:extLst>
          </p:cNvPr>
          <p:cNvSpPr txBox="1"/>
          <p:nvPr/>
        </p:nvSpPr>
        <p:spPr>
          <a:xfrm>
            <a:off x="1279123" y="1355127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</a:t>
            </a:r>
            <a:r>
              <a:rPr lang="en-US" sz="2000" b="1" dirty="0">
                <a:solidFill>
                  <a:srgbClr val="971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r>
              <a:rPr lang="en-US" sz="20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F0983E-2482-D71E-5241-9E79D288AE1C}"/>
              </a:ext>
            </a:extLst>
          </p:cNvPr>
          <p:cNvSpPr txBox="1"/>
          <p:nvPr/>
        </p:nvSpPr>
        <p:spPr>
          <a:xfrm>
            <a:off x="1285262" y="2017302"/>
            <a:ext cx="2672540" cy="40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 Risk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Normal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D233798-3089-F438-F28F-71FC9C325B89}"/>
              </a:ext>
            </a:extLst>
          </p:cNvPr>
          <p:cNvSpPr txBox="1"/>
          <p:nvPr/>
        </p:nvSpPr>
        <p:spPr>
          <a:xfrm>
            <a:off x="4339771" y="1315175"/>
            <a:ext cx="25436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Name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0C33ED-A8BD-EF50-78C4-F0816587DFA2}"/>
              </a:ext>
            </a:extLst>
          </p:cNvPr>
          <p:cNvSpPr txBox="1"/>
          <p:nvPr/>
        </p:nvSpPr>
        <p:spPr>
          <a:xfrm>
            <a:off x="4389646" y="1814142"/>
            <a:ext cx="2543699" cy="68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Axis, HDFC, ICICI, Kotak Mahindra, Punjab National, State Bank of India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22F55B-B343-8718-55CF-CB7201D2E673}"/>
              </a:ext>
            </a:extLst>
          </p:cNvPr>
          <p:cNvSpPr txBox="1"/>
          <p:nvPr/>
        </p:nvSpPr>
        <p:spPr>
          <a:xfrm>
            <a:off x="7677501" y="1255430"/>
            <a:ext cx="2635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C0853A1-765B-C29C-3284-8EBB42091F1F}"/>
              </a:ext>
            </a:extLst>
          </p:cNvPr>
          <p:cNvSpPr txBox="1"/>
          <p:nvPr/>
        </p:nvSpPr>
        <p:spPr>
          <a:xfrm>
            <a:off x="7357986" y="1852848"/>
            <a:ext cx="263507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Center, Downtown, East, Main, North, Suburban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0360CD9-6E99-285D-A1A5-E1F370BF6790}"/>
              </a:ext>
            </a:extLst>
          </p:cNvPr>
          <p:cNvSpPr txBox="1"/>
          <p:nvPr/>
        </p:nvSpPr>
        <p:spPr>
          <a:xfrm>
            <a:off x="4339771" y="3283544"/>
            <a:ext cx="2474223" cy="39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98B254-B377-C46E-52DD-883D5B000E9F}"/>
              </a:ext>
            </a:extLst>
          </p:cNvPr>
          <p:cNvSpPr txBox="1"/>
          <p:nvPr/>
        </p:nvSpPr>
        <p:spPr>
          <a:xfrm>
            <a:off x="4347504" y="3761611"/>
            <a:ext cx="2555922" cy="535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slider (1/1/2024 to 12/1/2024)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FD35F5D-5702-C0F5-BC1B-64EF4E6136EA}"/>
              </a:ext>
            </a:extLst>
          </p:cNvPr>
          <p:cNvSpPr txBox="1"/>
          <p:nvPr/>
        </p:nvSpPr>
        <p:spPr>
          <a:xfrm>
            <a:off x="1279123" y="3270057"/>
            <a:ext cx="2470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Method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F420D4-A296-3253-44BE-3E3E2F4EF3BD}"/>
              </a:ext>
            </a:extLst>
          </p:cNvPr>
          <p:cNvSpPr txBox="1"/>
          <p:nvPr/>
        </p:nvSpPr>
        <p:spPr>
          <a:xfrm>
            <a:off x="1325018" y="3816536"/>
            <a:ext cx="2424135" cy="72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Transfer, Credit Card, Debit Card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BDCDFAD-E0FC-F15C-7311-B1B4B2720CEF}"/>
              </a:ext>
            </a:extLst>
          </p:cNvPr>
          <p:cNvSpPr txBox="1"/>
          <p:nvPr/>
        </p:nvSpPr>
        <p:spPr>
          <a:xfrm>
            <a:off x="7399911" y="3234637"/>
            <a:ext cx="2635073" cy="506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808EC8-479A-DF68-2573-E6CE10593AB5}"/>
              </a:ext>
            </a:extLst>
          </p:cNvPr>
          <p:cNvSpPr txBox="1"/>
          <p:nvPr/>
        </p:nvSpPr>
        <p:spPr>
          <a:xfrm>
            <a:off x="7399911" y="3771087"/>
            <a:ext cx="2551224" cy="772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Credit or Debit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537751-334C-64AF-AFEC-EA364DD59828}"/>
              </a:ext>
            </a:extLst>
          </p:cNvPr>
          <p:cNvSpPr txBox="1"/>
          <p:nvPr/>
        </p:nvSpPr>
        <p:spPr>
          <a:xfrm>
            <a:off x="1" y="339981"/>
            <a:ext cx="4470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Aptos" panose="020B0004020202020204" pitchFamily="34" charset="0"/>
              </a:rPr>
              <a:t>Dashboard filters</a:t>
            </a:r>
          </a:p>
          <a:p>
            <a:endParaRPr lang="en-IN" dirty="0"/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94C3C142-AA4F-F64D-65E0-1E66C8E52C4F}"/>
              </a:ext>
            </a:extLst>
          </p:cNvPr>
          <p:cNvSpPr/>
          <p:nvPr/>
        </p:nvSpPr>
        <p:spPr>
          <a:xfrm>
            <a:off x="362146" y="5581623"/>
            <a:ext cx="11467707" cy="717671"/>
          </a:xfrm>
          <a:prstGeom prst="rect">
            <a:avLst/>
          </a:prstGeom>
          <a:solidFill>
            <a:srgbClr val="F9E6EE"/>
          </a:solidFill>
          <a:ln w="19050">
            <a:solidFill>
              <a:srgbClr val="97144D"/>
            </a:solidFill>
            <a:prstDash val="solid"/>
          </a:ln>
        </p:spPr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345CA2-8440-0D4C-7A1A-7D7E177780A0}"/>
              </a:ext>
            </a:extLst>
          </p:cNvPr>
          <p:cNvSpPr txBox="1"/>
          <p:nvPr/>
        </p:nvSpPr>
        <p:spPr>
          <a:xfrm>
            <a:off x="416560" y="5567680"/>
            <a:ext cx="11298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Used filters for date, risk flag, transaction method, bank, branch, and transaction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 Type to analyze specific transactions and compare performance.</a:t>
            </a:r>
            <a:endParaRPr lang="en-IN" sz="2000" b="1" dirty="0">
              <a:latin typeface="Aptos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B904A-42C0-15D6-4292-1E3DB8657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872246" y="332904"/>
            <a:ext cx="1319753" cy="45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DFDCD-3362-A9A7-B5B0-493E5B8E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0">
            <a:extLst>
              <a:ext uri="{FF2B5EF4-FFF2-40B4-BE49-F238E27FC236}">
                <a16:creationId xmlns:a16="http://schemas.microsoft.com/office/drawing/2014/main" id="{53D33BEA-6282-55CF-C0DB-B6A75FA671C5}"/>
              </a:ext>
            </a:extLst>
          </p:cNvPr>
          <p:cNvSpPr/>
          <p:nvPr/>
        </p:nvSpPr>
        <p:spPr>
          <a:xfrm>
            <a:off x="7749776" y="2588123"/>
            <a:ext cx="4111972" cy="1902026"/>
          </a:xfrm>
          <a:prstGeom prst="rect">
            <a:avLst/>
          </a:prstGeom>
          <a:solidFill>
            <a:srgbClr val="F9E6EE"/>
          </a:solidFill>
          <a:ln w="19050">
            <a:solidFill>
              <a:srgbClr val="97144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14BFC-6914-87EC-FA90-40FD1223CFB6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71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FDF63-3BC7-2BA2-2814-A0D80FE9441A}"/>
              </a:ext>
            </a:extLst>
          </p:cNvPr>
          <p:cNvSpPr txBox="1"/>
          <p:nvPr/>
        </p:nvSpPr>
        <p:spPr>
          <a:xfrm>
            <a:off x="94268" y="395926"/>
            <a:ext cx="51281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Aptos" panose="020B0004020202020204" pitchFamily="34" charset="0"/>
              </a:rPr>
              <a:t>Monthly transaction trend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8F460-22F5-2143-BEE9-4D01C5118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0" t="26719" r="69611" b="39275"/>
          <a:stretch>
            <a:fillRect/>
          </a:stretch>
        </p:blipFill>
        <p:spPr>
          <a:xfrm>
            <a:off x="173455" y="1601300"/>
            <a:ext cx="7292574" cy="4258641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49305646-8A1D-C449-A84C-073C5DCA97B6}"/>
              </a:ext>
            </a:extLst>
          </p:cNvPr>
          <p:cNvSpPr txBox="1"/>
          <p:nvPr/>
        </p:nvSpPr>
        <p:spPr>
          <a:xfrm>
            <a:off x="7818592" y="2666529"/>
            <a:ext cx="3974340" cy="1745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4A0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8.6K to 9.3K transactions a month, January to November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4A0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December: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drops to about 0.3K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4A0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 whether December data is complete before drawing business conclusions</a:t>
            </a:r>
            <a:endParaRPr lang="en-US" dirty="0"/>
          </a:p>
        </p:txBody>
      </p:sp>
      <p:sp>
        <p:nvSpPr>
          <p:cNvPr id="8" name="Shape 30">
            <a:extLst>
              <a:ext uri="{FF2B5EF4-FFF2-40B4-BE49-F238E27FC236}">
                <a16:creationId xmlns:a16="http://schemas.microsoft.com/office/drawing/2014/main" id="{79C1EE37-5263-EC67-A927-D132B89AAC4D}"/>
              </a:ext>
            </a:extLst>
          </p:cNvPr>
          <p:cNvSpPr/>
          <p:nvPr/>
        </p:nvSpPr>
        <p:spPr>
          <a:xfrm>
            <a:off x="325225" y="6011517"/>
            <a:ext cx="11467707" cy="384048"/>
          </a:xfrm>
          <a:prstGeom prst="rect">
            <a:avLst/>
          </a:prstGeom>
          <a:solidFill>
            <a:srgbClr val="F9E6EE"/>
          </a:solidFill>
          <a:ln w="19050">
            <a:solidFill>
              <a:srgbClr val="97144D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DCB36F-CEEE-68EE-A686-88981BDBCE6E}"/>
              </a:ext>
            </a:extLst>
          </p:cNvPr>
          <p:cNvSpPr txBox="1"/>
          <p:nvPr/>
        </p:nvSpPr>
        <p:spPr>
          <a:xfrm>
            <a:off x="399068" y="6011516"/>
            <a:ext cx="1126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A0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December drop is the most important anomaly in the trend.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F93854-AAA8-6D28-7B8C-367C2997E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777979" y="352726"/>
            <a:ext cx="1319753" cy="45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1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8AD85-4FEC-1223-EA0D-4F459346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D11787-1D25-712D-B4F6-BE8DF7277542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71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717C51-9689-C228-9E32-C96C2C938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83" t="25871" r="8915" b="39303"/>
          <a:stretch>
            <a:fillRect/>
          </a:stretch>
        </p:blipFill>
        <p:spPr>
          <a:xfrm>
            <a:off x="109728" y="1225297"/>
            <a:ext cx="6217920" cy="38332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2159D-896D-BAEF-857C-75AC28357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98" r="69425"/>
          <a:stretch>
            <a:fillRect/>
          </a:stretch>
        </p:blipFill>
        <p:spPr>
          <a:xfrm>
            <a:off x="6408928" y="1225297"/>
            <a:ext cx="5786789" cy="38404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B1C9E0-42A2-E383-9863-20B0CB668E9E}"/>
              </a:ext>
            </a:extLst>
          </p:cNvPr>
          <p:cNvSpPr txBox="1"/>
          <p:nvPr/>
        </p:nvSpPr>
        <p:spPr>
          <a:xfrm>
            <a:off x="109728" y="375920"/>
            <a:ext cx="8262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Aptos" panose="020B0004020202020204" pitchFamily="34" charset="0"/>
              </a:rPr>
              <a:t>Bank-wise and branch-wise volume</a:t>
            </a:r>
          </a:p>
        </p:txBody>
      </p:sp>
      <p:sp>
        <p:nvSpPr>
          <p:cNvPr id="11" name="Shape 30">
            <a:extLst>
              <a:ext uri="{FF2B5EF4-FFF2-40B4-BE49-F238E27FC236}">
                <a16:creationId xmlns:a16="http://schemas.microsoft.com/office/drawing/2014/main" id="{DAA2313B-4F1B-F28E-E422-5D512A71A467}"/>
              </a:ext>
            </a:extLst>
          </p:cNvPr>
          <p:cNvSpPr/>
          <p:nvPr/>
        </p:nvSpPr>
        <p:spPr>
          <a:xfrm>
            <a:off x="109728" y="5532750"/>
            <a:ext cx="11467707" cy="384048"/>
          </a:xfrm>
          <a:prstGeom prst="rect">
            <a:avLst/>
          </a:prstGeom>
          <a:solidFill>
            <a:srgbClr val="F9E6EE"/>
          </a:solidFill>
          <a:ln w="19050">
            <a:solidFill>
              <a:srgbClr val="97144D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81A1A2-FEA7-C140-89E2-CAD8FF61818A}"/>
              </a:ext>
            </a:extLst>
          </p:cNvPr>
          <p:cNvSpPr txBox="1"/>
          <p:nvPr/>
        </p:nvSpPr>
        <p:spPr>
          <a:xfrm>
            <a:off x="109728" y="5532750"/>
            <a:ext cx="11127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0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are almost identical (42M to 43M), so growth and risk matter more than size.</a:t>
            </a: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34D733-9113-C74D-6D80-072E5D372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801546" y="314406"/>
            <a:ext cx="1319753" cy="45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10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44D82-9007-AD84-E7D5-148462518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404583-4D1F-976A-38E8-13B855A39F01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71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FC232-F79F-D0BE-1058-E34D1C510C33}"/>
              </a:ext>
            </a:extLst>
          </p:cNvPr>
          <p:cNvSpPr txBox="1"/>
          <p:nvPr/>
        </p:nvSpPr>
        <p:spPr>
          <a:xfrm>
            <a:off x="98982" y="274320"/>
            <a:ext cx="60991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Dashboard</a:t>
            </a:r>
            <a:endParaRPr lang="en-IN" sz="3200" b="1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38DC-7648-06DE-360C-57ECBDCE3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2" y="788094"/>
            <a:ext cx="11994036" cy="606614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A1C623-43F7-8B97-6270-A57A970A6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872247" y="305405"/>
            <a:ext cx="1319753" cy="45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77D2B-E418-D7B4-EB57-D8D5E682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898970-16F6-A2B2-6DB5-C08F62F378F2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004B8D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21BE0-6CC5-ED43-37BA-C894054CBCC2}"/>
              </a:ext>
            </a:extLst>
          </p:cNvPr>
          <p:cNvSpPr txBox="1"/>
          <p:nvPr/>
        </p:nvSpPr>
        <p:spPr>
          <a:xfrm>
            <a:off x="0" y="274320"/>
            <a:ext cx="8644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E71319"/>
                </a:solidFill>
                <a:latin typeface="Aptos" panose="020B0004020202020204" pitchFamily="34" charset="0"/>
              </a:rPr>
              <a:t>Data analysis workflow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F37FAAA0-E35A-76DF-A896-68584133791F}"/>
              </a:ext>
            </a:extLst>
          </p:cNvPr>
          <p:cNvSpPr/>
          <p:nvPr/>
        </p:nvSpPr>
        <p:spPr>
          <a:xfrm>
            <a:off x="1518658" y="14325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E8F0FB"/>
          </a:solidFill>
          <a:ln w="19050">
            <a:solidFill>
              <a:srgbClr val="0B3C7D"/>
            </a:solidFill>
            <a:prstDash val="solid"/>
          </a:ln>
        </p:spPr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8F7BCBB1-BDE8-778C-9BB5-2D898DB6687C}"/>
              </a:ext>
            </a:extLst>
          </p:cNvPr>
          <p:cNvSpPr/>
          <p:nvPr/>
        </p:nvSpPr>
        <p:spPr>
          <a:xfrm>
            <a:off x="4175760" y="14325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E8F0FB"/>
          </a:solidFill>
          <a:ln w="19050">
            <a:solidFill>
              <a:srgbClr val="0B3C7D"/>
            </a:solidFill>
            <a:prstDash val="solid"/>
          </a:ln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0676C9-7DCF-9A5F-E525-E2865D32209E}"/>
              </a:ext>
            </a:extLst>
          </p:cNvPr>
          <p:cNvSpPr/>
          <p:nvPr/>
        </p:nvSpPr>
        <p:spPr>
          <a:xfrm>
            <a:off x="6832862" y="14325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E8F0FB"/>
          </a:solidFill>
          <a:ln w="19050">
            <a:solidFill>
              <a:srgbClr val="0B3C7D"/>
            </a:solidFill>
            <a:prstDash val="solid"/>
          </a:ln>
        </p:spPr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C5046DF8-AB36-6FC5-DE3B-5E1DFE058485}"/>
              </a:ext>
            </a:extLst>
          </p:cNvPr>
          <p:cNvSpPr/>
          <p:nvPr/>
        </p:nvSpPr>
        <p:spPr>
          <a:xfrm>
            <a:off x="9389096" y="14325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E8F0FB"/>
          </a:solidFill>
          <a:ln w="19050">
            <a:solidFill>
              <a:srgbClr val="0B3C7D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77F40-F0FC-AFF1-0A2C-D65E6A996569}"/>
              </a:ext>
            </a:extLst>
          </p:cNvPr>
          <p:cNvSpPr txBox="1"/>
          <p:nvPr/>
        </p:nvSpPr>
        <p:spPr>
          <a:xfrm>
            <a:off x="1518658" y="1432560"/>
            <a:ext cx="74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E71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>
              <a:solidFill>
                <a:srgbClr val="E7131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6D448-1DD0-5B3E-503C-B11987F084D7}"/>
              </a:ext>
            </a:extLst>
          </p:cNvPr>
          <p:cNvSpPr txBox="1"/>
          <p:nvPr/>
        </p:nvSpPr>
        <p:spPr>
          <a:xfrm>
            <a:off x="9499391" y="1428124"/>
            <a:ext cx="74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E71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>
              <a:solidFill>
                <a:srgbClr val="E7131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FB78BF-E90D-8B42-A99E-8DA53437CA50}"/>
              </a:ext>
            </a:extLst>
          </p:cNvPr>
          <p:cNvSpPr txBox="1"/>
          <p:nvPr/>
        </p:nvSpPr>
        <p:spPr>
          <a:xfrm>
            <a:off x="6834433" y="1428125"/>
            <a:ext cx="74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E71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>
              <a:solidFill>
                <a:srgbClr val="E7131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C9E26-1A71-9EC0-7090-7D2C87025433}"/>
              </a:ext>
            </a:extLst>
          </p:cNvPr>
          <p:cNvSpPr txBox="1"/>
          <p:nvPr/>
        </p:nvSpPr>
        <p:spPr>
          <a:xfrm>
            <a:off x="4169475" y="1432559"/>
            <a:ext cx="74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E71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>
              <a:solidFill>
                <a:srgbClr val="E71319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659213-8941-2FCD-30F7-B48D2ED7B74D}"/>
              </a:ext>
            </a:extLst>
          </p:cNvPr>
          <p:cNvSpPr txBox="1"/>
          <p:nvPr/>
        </p:nvSpPr>
        <p:spPr>
          <a:xfrm>
            <a:off x="1593130" y="2074455"/>
            <a:ext cx="175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4B8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b="1" dirty="0">
              <a:solidFill>
                <a:srgbClr val="004B8D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DC8273-0D0D-EAAA-AF1B-F53D9DB5A964}"/>
              </a:ext>
            </a:extLst>
          </p:cNvPr>
          <p:cNvSpPr txBox="1"/>
          <p:nvPr/>
        </p:nvSpPr>
        <p:spPr>
          <a:xfrm>
            <a:off x="9467651" y="2074455"/>
            <a:ext cx="175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4B8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dirty="0">
              <a:solidFill>
                <a:srgbClr val="004B8D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7DC3C-4BF2-8931-1839-8D84C9481030}"/>
              </a:ext>
            </a:extLst>
          </p:cNvPr>
          <p:cNvSpPr txBox="1"/>
          <p:nvPr/>
        </p:nvSpPr>
        <p:spPr>
          <a:xfrm>
            <a:off x="6938128" y="2076700"/>
            <a:ext cx="175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4B8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Pivot analysis</a:t>
            </a:r>
            <a:endParaRPr lang="en-US" dirty="0">
              <a:solidFill>
                <a:srgbClr val="004B8D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323436-BE74-AD23-B1C5-A2202806D599}"/>
              </a:ext>
            </a:extLst>
          </p:cNvPr>
          <p:cNvSpPr txBox="1"/>
          <p:nvPr/>
        </p:nvSpPr>
        <p:spPr>
          <a:xfrm>
            <a:off x="4185187" y="2074455"/>
            <a:ext cx="1886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4B8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KPI calculations</a:t>
            </a:r>
            <a:endParaRPr lang="en-US" dirty="0">
              <a:solidFill>
                <a:srgbClr val="004B8D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67B2DC-B692-A721-8943-7E7CBF687816}"/>
              </a:ext>
            </a:extLst>
          </p:cNvPr>
          <p:cNvSpPr txBox="1"/>
          <p:nvPr/>
        </p:nvSpPr>
        <p:spPr>
          <a:xfrm>
            <a:off x="1518658" y="2545237"/>
            <a:ext cx="18278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Prepare the 65,535 loan records and fix column, date issues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600" dirty="0"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E77F06-B630-FF18-D2B8-D5D324F5CB20}"/>
              </a:ext>
            </a:extLst>
          </p:cNvPr>
          <p:cNvSpPr txBox="1"/>
          <p:nvPr/>
        </p:nvSpPr>
        <p:spPr>
          <a:xfrm>
            <a:off x="4260915" y="2545237"/>
            <a:ext cx="1734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Analyzed funded loans, interest earned, defaults, and delinquency rates to assess credit risk.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3BBC9A-E9D3-D35F-19DF-226414A0C51A}"/>
              </a:ext>
            </a:extLst>
          </p:cNvPr>
          <p:cNvSpPr txBox="1"/>
          <p:nvPr/>
        </p:nvSpPr>
        <p:spPr>
          <a:xfrm>
            <a:off x="9489964" y="2545236"/>
            <a:ext cx="1827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Slicers on the dashboard; KPIs compared with SQL queries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28FCE8-B3A5-9CC0-3E81-DB29B46061FE}"/>
              </a:ext>
            </a:extLst>
          </p:cNvPr>
          <p:cNvSpPr txBox="1"/>
          <p:nvPr/>
        </p:nvSpPr>
        <p:spPr>
          <a:xfrm>
            <a:off x="6863656" y="2545236"/>
            <a:ext cx="1827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Pivot Tables and Pivot Charts by city, product, age, grade and status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FD572355-2624-B5EA-5745-3C6983946ECF}"/>
              </a:ext>
            </a:extLst>
          </p:cNvPr>
          <p:cNvSpPr/>
          <p:nvPr/>
        </p:nvSpPr>
        <p:spPr>
          <a:xfrm>
            <a:off x="113122" y="4735131"/>
            <a:ext cx="11736371" cy="1158240"/>
          </a:xfrm>
          <a:prstGeom prst="roundRect">
            <a:avLst>
              <a:gd name="adj" fmla="val 1707"/>
            </a:avLst>
          </a:prstGeom>
          <a:solidFill>
            <a:srgbClr val="004B8D"/>
          </a:solidFill>
          <a:ln w="19050">
            <a:solidFill>
              <a:srgbClr val="0B3C7D"/>
            </a:solidFill>
            <a:prstDash val="solid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4EA690-5599-6183-0055-1FBD7FDB4548}"/>
              </a:ext>
            </a:extLst>
          </p:cNvPr>
          <p:cNvSpPr txBox="1"/>
          <p:nvPr/>
        </p:nvSpPr>
        <p:spPr>
          <a:xfrm>
            <a:off x="113122" y="4807670"/>
            <a:ext cx="4496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ptos" panose="020B0004020202020204" pitchFamily="34" charset="0"/>
                <a:ea typeface="Poppins" pitchFamily="34" charset="-122"/>
                <a:cs typeface="Poppins" pitchFamily="34" charset="-120"/>
              </a:rPr>
              <a:t>Why this order mattered</a:t>
            </a:r>
            <a:endParaRPr lang="en-US" sz="24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4C1503-DB67-FF45-1CA8-76A773E34B78}"/>
              </a:ext>
            </a:extLst>
          </p:cNvPr>
          <p:cNvSpPr txBox="1"/>
          <p:nvPr/>
        </p:nvSpPr>
        <p:spPr>
          <a:xfrm>
            <a:off x="216816" y="5279010"/>
            <a:ext cx="11434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Cleaned data in Excel, analyzed trends using SQL, and created interactive dashboards in Power BI and Tableau.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8ED037A-21B6-6D17-49CC-CCC2500A6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459352" y="257622"/>
            <a:ext cx="1734533" cy="4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67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ADCB6-01FC-AFFD-A2BC-BBDE0A47C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051320-94E4-77BE-673F-D058BC0E3B9B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1C9C9-8693-556D-B0D9-C81AEBC6D109}"/>
              </a:ext>
            </a:extLst>
          </p:cNvPr>
          <p:cNvSpPr txBox="1"/>
          <p:nvPr/>
        </p:nvSpPr>
        <p:spPr>
          <a:xfrm>
            <a:off x="68826" y="403124"/>
            <a:ext cx="11366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E71319"/>
                </a:solidFill>
                <a:latin typeface="Aptos" panose="020B0004020202020204" pitchFamily="34" charset="0"/>
              </a:rPr>
              <a:t>KPI overview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AE1DBA-4152-4137-D6F2-BE8AA7FE7A98}"/>
              </a:ext>
            </a:extLst>
          </p:cNvPr>
          <p:cNvGrpSpPr/>
          <p:nvPr/>
        </p:nvGrpSpPr>
        <p:grpSpPr>
          <a:xfrm>
            <a:off x="3978427" y="1714499"/>
            <a:ext cx="2286000" cy="1417318"/>
            <a:chOff x="4175760" y="1714499"/>
            <a:chExt cx="2286000" cy="1417318"/>
          </a:xfrm>
        </p:grpSpPr>
        <p:sp>
          <p:nvSpPr>
            <p:cNvPr id="8" name="Shape 1">
              <a:extLst>
                <a:ext uri="{FF2B5EF4-FFF2-40B4-BE49-F238E27FC236}">
                  <a16:creationId xmlns:a16="http://schemas.microsoft.com/office/drawing/2014/main" id="{14F8FC67-0979-B019-1888-2AD983165A0D}"/>
                </a:ext>
              </a:extLst>
            </p:cNvPr>
            <p:cNvSpPr/>
            <p:nvPr/>
          </p:nvSpPr>
          <p:spPr>
            <a:xfrm>
              <a:off x="4175760" y="1714499"/>
              <a:ext cx="2286000" cy="1417318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CF3728-6E9F-1146-DF04-247612D94FBF}"/>
                </a:ext>
              </a:extLst>
            </p:cNvPr>
            <p:cNvSpPr txBox="1"/>
            <p:nvPr/>
          </p:nvSpPr>
          <p:spPr>
            <a:xfrm>
              <a:off x="4319519" y="1819373"/>
              <a:ext cx="1998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4B8D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Total Loans</a:t>
              </a:r>
              <a:endParaRPr lang="en-US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34A7AC-AFB6-D1AF-3C95-455E3EA735E8}"/>
                </a:ext>
              </a:extLst>
            </p:cNvPr>
            <p:cNvSpPr txBox="1"/>
            <p:nvPr/>
          </p:nvSpPr>
          <p:spPr>
            <a:xfrm>
              <a:off x="4319519" y="2374210"/>
              <a:ext cx="1986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65535.00</a:t>
              </a:r>
              <a:r>
                <a:rPr lang="en-IN" sz="2000" b="1" dirty="0">
                  <a:latin typeface="Aptos" panose="020B0004020202020204" pitchFamily="34" charset="0"/>
                </a:rPr>
                <a:t> </a:t>
              </a:r>
              <a:endParaRPr lang="en-IN" sz="2000" b="1" dirty="0">
                <a:solidFill>
                  <a:srgbClr val="E71319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5773E5-DAE4-246E-8C0A-27000F2E87D3}"/>
              </a:ext>
            </a:extLst>
          </p:cNvPr>
          <p:cNvGrpSpPr/>
          <p:nvPr/>
        </p:nvGrpSpPr>
        <p:grpSpPr>
          <a:xfrm>
            <a:off x="9310226" y="1714499"/>
            <a:ext cx="2286000" cy="1417318"/>
            <a:chOff x="9310226" y="1714499"/>
            <a:chExt cx="2286000" cy="1417318"/>
          </a:xfrm>
        </p:grpSpPr>
        <p:sp>
          <p:nvSpPr>
            <p:cNvPr id="14" name="Shape 1">
              <a:extLst>
                <a:ext uri="{FF2B5EF4-FFF2-40B4-BE49-F238E27FC236}">
                  <a16:creationId xmlns:a16="http://schemas.microsoft.com/office/drawing/2014/main" id="{55A2558F-76C1-F43E-0A51-2099892041AC}"/>
                </a:ext>
              </a:extLst>
            </p:cNvPr>
            <p:cNvSpPr/>
            <p:nvPr/>
          </p:nvSpPr>
          <p:spPr>
            <a:xfrm>
              <a:off x="9310226" y="1714499"/>
              <a:ext cx="2286000" cy="1417318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E5FEC0-1D5E-05A8-AFCE-D72F9B84B992}"/>
                </a:ext>
              </a:extLst>
            </p:cNvPr>
            <p:cNvSpPr txBox="1"/>
            <p:nvPr/>
          </p:nvSpPr>
          <p:spPr>
            <a:xfrm>
              <a:off x="9346559" y="1819373"/>
              <a:ext cx="2213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4B8D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Default Loan Count</a:t>
              </a:r>
              <a:endParaRPr lang="en-US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B87B6B6-6D7F-8AAF-7898-660FA768058A}"/>
                </a:ext>
              </a:extLst>
            </p:cNvPr>
            <p:cNvSpPr txBox="1"/>
            <p:nvPr/>
          </p:nvSpPr>
          <p:spPr>
            <a:xfrm>
              <a:off x="9445343" y="2374210"/>
              <a:ext cx="1986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₹ 814,902,500.45</a:t>
              </a:r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D1AD86-012F-E2C6-7115-EB966A0E5969}"/>
              </a:ext>
            </a:extLst>
          </p:cNvPr>
          <p:cNvGrpSpPr/>
          <p:nvPr/>
        </p:nvGrpSpPr>
        <p:grpSpPr>
          <a:xfrm>
            <a:off x="6644327" y="1714499"/>
            <a:ext cx="2286000" cy="1417318"/>
            <a:chOff x="6878111" y="1714499"/>
            <a:chExt cx="2286000" cy="1417318"/>
          </a:xfrm>
        </p:grpSpPr>
        <p:sp>
          <p:nvSpPr>
            <p:cNvPr id="13" name="Shape 1">
              <a:extLst>
                <a:ext uri="{FF2B5EF4-FFF2-40B4-BE49-F238E27FC236}">
                  <a16:creationId xmlns:a16="http://schemas.microsoft.com/office/drawing/2014/main" id="{BE84DCFC-132D-ABBD-B136-8006D0691637}"/>
                </a:ext>
              </a:extLst>
            </p:cNvPr>
            <p:cNvSpPr/>
            <p:nvPr/>
          </p:nvSpPr>
          <p:spPr>
            <a:xfrm>
              <a:off x="6878111" y="1714499"/>
              <a:ext cx="2286000" cy="1417318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CE2F35-9AE8-A639-6C17-4E7ED5675FAD}"/>
                </a:ext>
              </a:extLst>
            </p:cNvPr>
            <p:cNvSpPr txBox="1"/>
            <p:nvPr/>
          </p:nvSpPr>
          <p:spPr>
            <a:xfrm>
              <a:off x="7021870" y="1819373"/>
              <a:ext cx="1998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4B8D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Total Interest</a:t>
              </a:r>
              <a:endParaRPr lang="en-US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67F33C9-1E14-D36E-93D0-DCEF911C9F36}"/>
                </a:ext>
              </a:extLst>
            </p:cNvPr>
            <p:cNvSpPr txBox="1"/>
            <p:nvPr/>
          </p:nvSpPr>
          <p:spPr>
            <a:xfrm>
              <a:off x="7033574" y="2374210"/>
              <a:ext cx="1986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₹ 155,288,805.82</a:t>
              </a:r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52860C9-5AA2-78F8-D004-54C3B96CC8A2}"/>
              </a:ext>
            </a:extLst>
          </p:cNvPr>
          <p:cNvGrpSpPr/>
          <p:nvPr/>
        </p:nvGrpSpPr>
        <p:grpSpPr>
          <a:xfrm>
            <a:off x="1315197" y="3502926"/>
            <a:ext cx="2286000" cy="1417318"/>
            <a:chOff x="1315197" y="3508257"/>
            <a:chExt cx="2286000" cy="1417318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363606FA-1F82-0EE4-11FE-5614B5052FA5}"/>
                </a:ext>
              </a:extLst>
            </p:cNvPr>
            <p:cNvSpPr/>
            <p:nvPr/>
          </p:nvSpPr>
          <p:spPr>
            <a:xfrm>
              <a:off x="1315197" y="3508257"/>
              <a:ext cx="2286000" cy="1417318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B39B95-2723-9458-FEF0-8ED047DDCC12}"/>
                </a:ext>
              </a:extLst>
            </p:cNvPr>
            <p:cNvSpPr txBox="1"/>
            <p:nvPr/>
          </p:nvSpPr>
          <p:spPr>
            <a:xfrm>
              <a:off x="1376471" y="3565292"/>
              <a:ext cx="2224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4B8D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Total Collection</a:t>
              </a:r>
              <a:endParaRPr lang="en-US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702ECC9-F935-0B7E-B3CC-242AF7410708}"/>
                </a:ext>
              </a:extLst>
            </p:cNvPr>
            <p:cNvSpPr txBox="1"/>
            <p:nvPr/>
          </p:nvSpPr>
          <p:spPr>
            <a:xfrm>
              <a:off x="1495445" y="4211585"/>
              <a:ext cx="1986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₹ 814,902,500.45</a:t>
              </a:r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46F0898-9BFE-BD2B-7B62-F774AF80E85D}"/>
              </a:ext>
            </a:extLst>
          </p:cNvPr>
          <p:cNvGrpSpPr/>
          <p:nvPr/>
        </p:nvGrpSpPr>
        <p:grpSpPr>
          <a:xfrm>
            <a:off x="4025246" y="3502926"/>
            <a:ext cx="2286000" cy="1417318"/>
            <a:chOff x="4137031" y="3502926"/>
            <a:chExt cx="2286000" cy="1417318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377F36B9-1837-E2B1-42D4-708E7EDA2E4D}"/>
                </a:ext>
              </a:extLst>
            </p:cNvPr>
            <p:cNvSpPr/>
            <p:nvPr/>
          </p:nvSpPr>
          <p:spPr>
            <a:xfrm>
              <a:off x="4137031" y="3502926"/>
              <a:ext cx="2286000" cy="1417318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FB2A5A-548E-5137-0DF9-5581A8DD1852}"/>
                </a:ext>
              </a:extLst>
            </p:cNvPr>
            <p:cNvSpPr txBox="1"/>
            <p:nvPr/>
          </p:nvSpPr>
          <p:spPr>
            <a:xfrm>
              <a:off x="4242062" y="3565254"/>
              <a:ext cx="2075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4B8D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Default Loan Rate</a:t>
              </a:r>
              <a:endParaRPr lang="en-US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E9935C0-4EF1-DFBB-1E76-FFE09F869ADA}"/>
                </a:ext>
              </a:extLst>
            </p:cNvPr>
            <p:cNvSpPr txBox="1"/>
            <p:nvPr/>
          </p:nvSpPr>
          <p:spPr>
            <a:xfrm>
              <a:off x="4334955" y="4230025"/>
              <a:ext cx="1986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1.56%</a:t>
              </a:r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726E88E-7DF9-5189-ACD8-81D62683ECF2}"/>
              </a:ext>
            </a:extLst>
          </p:cNvPr>
          <p:cNvGrpSpPr/>
          <p:nvPr/>
        </p:nvGrpSpPr>
        <p:grpSpPr>
          <a:xfrm>
            <a:off x="6735295" y="3502926"/>
            <a:ext cx="2286000" cy="1417318"/>
            <a:chOff x="6708742" y="3508257"/>
            <a:chExt cx="2286000" cy="1417318"/>
          </a:xfrm>
        </p:grpSpPr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D0C967F5-448D-78A0-A644-D782C77D0FC0}"/>
                </a:ext>
              </a:extLst>
            </p:cNvPr>
            <p:cNvSpPr/>
            <p:nvPr/>
          </p:nvSpPr>
          <p:spPr>
            <a:xfrm>
              <a:off x="6708742" y="3508257"/>
              <a:ext cx="2286000" cy="1417318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CBDAEA5-1EB9-E805-4D40-9141624CE5FA}"/>
                </a:ext>
              </a:extLst>
            </p:cNvPr>
            <p:cNvSpPr txBox="1"/>
            <p:nvPr/>
          </p:nvSpPr>
          <p:spPr>
            <a:xfrm>
              <a:off x="6708742" y="3565254"/>
              <a:ext cx="2286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4B8D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Delinquent Loan Rate</a:t>
              </a:r>
              <a:endParaRPr lang="en-US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27FEAB-3BD4-4D8E-217E-D768C48CF89D}"/>
                </a:ext>
              </a:extLst>
            </p:cNvPr>
            <p:cNvSpPr txBox="1"/>
            <p:nvPr/>
          </p:nvSpPr>
          <p:spPr>
            <a:xfrm>
              <a:off x="6858353" y="4230025"/>
              <a:ext cx="1986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10.84%</a:t>
              </a:r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 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AC465D-F2D2-4E83-751B-BDE0F9565E8F}"/>
              </a:ext>
            </a:extLst>
          </p:cNvPr>
          <p:cNvGrpSpPr/>
          <p:nvPr/>
        </p:nvGrpSpPr>
        <p:grpSpPr>
          <a:xfrm>
            <a:off x="9445343" y="3502926"/>
            <a:ext cx="2286000" cy="1417318"/>
            <a:chOff x="9445343" y="3508257"/>
            <a:chExt cx="2286000" cy="1417318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78EA0784-2D59-9F82-5C5B-F1C7FD15845C}"/>
                </a:ext>
              </a:extLst>
            </p:cNvPr>
            <p:cNvSpPr/>
            <p:nvPr/>
          </p:nvSpPr>
          <p:spPr>
            <a:xfrm>
              <a:off x="9445343" y="3508257"/>
              <a:ext cx="2286000" cy="1417318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61AF29-587A-C1DF-F35B-ABB0D1E83CCB}"/>
                </a:ext>
              </a:extLst>
            </p:cNvPr>
            <p:cNvSpPr txBox="1"/>
            <p:nvPr/>
          </p:nvSpPr>
          <p:spPr>
            <a:xfrm>
              <a:off x="9589102" y="3565254"/>
              <a:ext cx="19984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4B8D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No Verified Loans Count</a:t>
              </a:r>
              <a:endParaRPr lang="en-US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51E601-1844-E888-6748-A5CB03D2F266}"/>
                </a:ext>
              </a:extLst>
            </p:cNvPr>
            <p:cNvSpPr txBox="1"/>
            <p:nvPr/>
          </p:nvSpPr>
          <p:spPr>
            <a:xfrm>
              <a:off x="9573114" y="4230025"/>
              <a:ext cx="1986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16921</a:t>
              </a:r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59A128-89D5-A22D-C8D5-E13488AE1B6A}"/>
              </a:ext>
            </a:extLst>
          </p:cNvPr>
          <p:cNvGrpSpPr/>
          <p:nvPr/>
        </p:nvGrpSpPr>
        <p:grpSpPr>
          <a:xfrm>
            <a:off x="1315197" y="1714499"/>
            <a:ext cx="2283330" cy="1417318"/>
            <a:chOff x="1385740" y="1714499"/>
            <a:chExt cx="2283330" cy="1417318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3DA04F4E-C7D7-044A-F02F-42A2BC466797}"/>
                </a:ext>
              </a:extLst>
            </p:cNvPr>
            <p:cNvSpPr/>
            <p:nvPr/>
          </p:nvSpPr>
          <p:spPr>
            <a:xfrm>
              <a:off x="1385740" y="1714499"/>
              <a:ext cx="2283330" cy="1417318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4F1A2D-AF30-F0DF-15AB-1DD6ED0B6859}"/>
                </a:ext>
              </a:extLst>
            </p:cNvPr>
            <p:cNvSpPr txBox="1"/>
            <p:nvPr/>
          </p:nvSpPr>
          <p:spPr>
            <a:xfrm>
              <a:off x="1393047" y="1819373"/>
              <a:ext cx="2130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4B8D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Total Loan Amount</a:t>
              </a:r>
              <a:endParaRPr lang="en-US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E15962B-078E-9B29-DD96-7CE84940B81A}"/>
                </a:ext>
              </a:extLst>
            </p:cNvPr>
            <p:cNvSpPr txBox="1"/>
            <p:nvPr/>
          </p:nvSpPr>
          <p:spPr>
            <a:xfrm>
              <a:off x="1536569" y="2380479"/>
              <a:ext cx="1986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E71319"/>
                  </a:solidFill>
                </a:rPr>
                <a:t>₹ 732,697,200.00 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6C0AC37-D71F-DA94-B39B-85C67FBC1D9D}"/>
              </a:ext>
            </a:extLst>
          </p:cNvPr>
          <p:cNvSpPr/>
          <p:nvPr/>
        </p:nvSpPr>
        <p:spPr>
          <a:xfrm>
            <a:off x="179109" y="5354424"/>
            <a:ext cx="11792932" cy="1074437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9C2B50-79BC-38DC-2872-1F5C587F975E}"/>
              </a:ext>
            </a:extLst>
          </p:cNvPr>
          <p:cNvSpPr txBox="1"/>
          <p:nvPr/>
        </p:nvSpPr>
        <p:spPr>
          <a:xfrm>
            <a:off x="263951" y="5354425"/>
            <a:ext cx="1136609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1C24"/>
                </a:solidFill>
                <a:latin typeface="Aptos" panose="020B0004020202020204" pitchFamily="34" charset="0"/>
                <a:ea typeface="Poppins" pitchFamily="34" charset="-122"/>
                <a:cs typeface="Poppins" pitchFamily="34" charset="-120"/>
              </a:rPr>
              <a:t>Insight</a:t>
            </a:r>
            <a:endParaRPr lang="en-US" b="1" dirty="0">
              <a:solidFill>
                <a:srgbClr val="ED1C24"/>
              </a:solidFill>
              <a:latin typeface="Aptos" panose="020B0004020202020204" pitchFamily="34" charset="0"/>
              <a:ea typeface="Poppins" pitchFamily="34" charset="-122"/>
              <a:cs typeface="Poppins" pitchFamily="34" charset="-120"/>
            </a:endParaRP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Poppins" pitchFamily="34" charset="-122"/>
                <a:cs typeface="Poppins" pitchFamily="34" charset="-120"/>
              </a:rPr>
              <a:t> 1,020 defaulted loans keep the default rate at 1.56%. The 10.84% delinquency is the early-warning pool for proactive monitoring.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IN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A40CD32-FB56-20EE-E239-5B690341A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459352" y="257622"/>
            <a:ext cx="1734533" cy="4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84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DBA2D-4518-5D6F-76A4-14BCC916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95D549-4078-790F-AAAB-29BEBCED5F90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2E3E2E-4B08-5C5E-3204-4C467BE13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2" t="46403" r="44868" b="26740"/>
          <a:stretch>
            <a:fillRect/>
          </a:stretch>
        </p:blipFill>
        <p:spPr>
          <a:xfrm>
            <a:off x="329385" y="863647"/>
            <a:ext cx="6269378" cy="23898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257CC0-DB56-3F64-55C9-3E7827BAC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8" t="73438" r="44498" b="1347"/>
          <a:stretch>
            <a:fillRect/>
          </a:stretch>
        </p:blipFill>
        <p:spPr>
          <a:xfrm>
            <a:off x="329385" y="3253531"/>
            <a:ext cx="6269378" cy="2389884"/>
          </a:xfrm>
          <a:prstGeom prst="rect">
            <a:avLst/>
          </a:prstGeom>
        </p:spPr>
      </p:pic>
      <p:sp>
        <p:nvSpPr>
          <p:cNvPr id="42" name="Shape 1">
            <a:extLst>
              <a:ext uri="{FF2B5EF4-FFF2-40B4-BE49-F238E27FC236}">
                <a16:creationId xmlns:a16="http://schemas.microsoft.com/office/drawing/2014/main" id="{0059258F-6314-2ADB-10C5-2724903A2541}"/>
              </a:ext>
            </a:extLst>
          </p:cNvPr>
          <p:cNvSpPr/>
          <p:nvPr/>
        </p:nvSpPr>
        <p:spPr>
          <a:xfrm>
            <a:off x="6865382" y="863647"/>
            <a:ext cx="4289196" cy="2141411"/>
          </a:xfrm>
          <a:prstGeom prst="roundRect">
            <a:avLst>
              <a:gd name="adj" fmla="val 3810"/>
            </a:avLst>
          </a:prstGeom>
          <a:solidFill>
            <a:srgbClr val="E8F0FB"/>
          </a:solidFill>
          <a:ln w="19050">
            <a:solidFill>
              <a:srgbClr val="0B3C7D"/>
            </a:solidFill>
            <a:prstDash val="solid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4BC889-B379-DD24-60D2-80BF059FC623}"/>
              </a:ext>
            </a:extLst>
          </p:cNvPr>
          <p:cNvSpPr txBox="1"/>
          <p:nvPr/>
        </p:nvSpPr>
        <p:spPr>
          <a:xfrm>
            <a:off x="6865382" y="954300"/>
            <a:ext cx="42891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71319"/>
                </a:solidFill>
                <a:latin typeface="Aptos" panose="020B0004020202020204" pitchFamily="34" charset="0"/>
              </a:rPr>
              <a:t>Age-Wise Loan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B8D"/>
                </a:solidFill>
                <a:latin typeface="Aptos" panose="020B0004020202020204" pitchFamily="34" charset="0"/>
              </a:rPr>
              <a:t>Customers aged 26–35 and 36–45 account for the highest loan amounts.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B8D"/>
                </a:solidFill>
                <a:latin typeface="Aptos" panose="020B0004020202020204" pitchFamily="34" charset="0"/>
              </a:rPr>
              <a:t>The 56–63 age group has the lowest loan amount.</a:t>
            </a: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375E4953-E378-C70F-0EE6-1DE69D3A1D0B}"/>
              </a:ext>
            </a:extLst>
          </p:cNvPr>
          <p:cNvSpPr/>
          <p:nvPr/>
        </p:nvSpPr>
        <p:spPr>
          <a:xfrm>
            <a:off x="6865382" y="3253531"/>
            <a:ext cx="4289196" cy="2141411"/>
          </a:xfrm>
          <a:prstGeom prst="roundRect">
            <a:avLst>
              <a:gd name="adj" fmla="val 3810"/>
            </a:avLst>
          </a:prstGeom>
          <a:solidFill>
            <a:srgbClr val="E8F0FB"/>
          </a:solidFill>
          <a:ln w="19050">
            <a:solidFill>
              <a:srgbClr val="0B3C7D"/>
            </a:solidFill>
            <a:prstDash val="solid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77900-63EC-81E4-3FD2-38F5AF1E0CBE}"/>
              </a:ext>
            </a:extLst>
          </p:cNvPr>
          <p:cNvSpPr txBox="1"/>
          <p:nvPr/>
        </p:nvSpPr>
        <p:spPr>
          <a:xfrm>
            <a:off x="6880544" y="3253531"/>
            <a:ext cx="42588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71319"/>
                </a:solidFill>
                <a:latin typeface="Aptos" panose="020B0004020202020204" pitchFamily="34" charset="0"/>
              </a:rPr>
              <a:t>Loan Status-Wise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B8D"/>
                </a:solidFill>
                <a:latin typeface="Aptos" panose="020B0004020202020204" pitchFamily="34" charset="0"/>
              </a:rPr>
              <a:t>Active Loans have the highest amount, followed by Fully Paid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B8D"/>
                </a:solidFill>
                <a:latin typeface="Aptos" panose="020B0004020202020204" pitchFamily="34" charset="0"/>
              </a:rPr>
              <a:t>Write-Off, NPA, and Cancelled loans show much lower amounts.</a:t>
            </a:r>
          </a:p>
          <a:p>
            <a:endParaRPr lang="en-IN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A69968-06FD-36D4-B9BF-C60BB7528A8C}"/>
              </a:ext>
            </a:extLst>
          </p:cNvPr>
          <p:cNvSpPr/>
          <p:nvPr/>
        </p:nvSpPr>
        <p:spPr>
          <a:xfrm>
            <a:off x="199534" y="5691552"/>
            <a:ext cx="11792932" cy="920226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D2B078-528A-8725-EC54-9938229AE8F2}"/>
              </a:ext>
            </a:extLst>
          </p:cNvPr>
          <p:cNvSpPr txBox="1"/>
          <p:nvPr/>
        </p:nvSpPr>
        <p:spPr>
          <a:xfrm>
            <a:off x="312655" y="5657671"/>
            <a:ext cx="11879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71319"/>
                </a:solidFill>
                <a:latin typeface="Aptos" panose="020B0004020202020204" pitchFamily="34" charset="0"/>
              </a:rPr>
              <a:t>Insight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Active loans dominate the portfolio, so monitoring repayment performance and delinquency is important to manage credit risk.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D27486-4AA9-9C90-2CFC-E01776D9D1A6}"/>
              </a:ext>
            </a:extLst>
          </p:cNvPr>
          <p:cNvSpPr txBox="1"/>
          <p:nvPr/>
        </p:nvSpPr>
        <p:spPr>
          <a:xfrm>
            <a:off x="199534" y="274320"/>
            <a:ext cx="8869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E71319"/>
                </a:solidFill>
                <a:latin typeface="Aptos" panose="020B0004020202020204" pitchFamily="34" charset="0"/>
              </a:rPr>
              <a:t>Age-Wise Loan and Loan Status-Wise Analysis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FB532AE-4078-EF10-19BA-8D0306F4B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59352" y="257622"/>
            <a:ext cx="1734533" cy="4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26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78924-2F45-DD8C-92F4-F80DC935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B5644D-953B-A3B6-D71F-7B1903AE580C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75DA8-818D-EA70-D85A-C74F42FF8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81" t="22547" r="14582" b="38591"/>
          <a:stretch>
            <a:fillRect/>
          </a:stretch>
        </p:blipFill>
        <p:spPr>
          <a:xfrm>
            <a:off x="105722" y="1206631"/>
            <a:ext cx="5852018" cy="2856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47E0D2-60B8-3422-2766-CF78D0688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8" t="72024" r="73002" b="1570"/>
          <a:stretch>
            <a:fillRect/>
          </a:stretch>
        </p:blipFill>
        <p:spPr>
          <a:xfrm>
            <a:off x="6201722" y="1206631"/>
            <a:ext cx="5990278" cy="2856322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9344DE69-F83D-BDAA-0EEC-F881FB372B65}"/>
              </a:ext>
            </a:extLst>
          </p:cNvPr>
          <p:cNvSpPr/>
          <p:nvPr/>
        </p:nvSpPr>
        <p:spPr>
          <a:xfrm>
            <a:off x="151285" y="4122419"/>
            <a:ext cx="5615707" cy="1179114"/>
          </a:xfrm>
          <a:prstGeom prst="roundRect">
            <a:avLst>
              <a:gd name="adj" fmla="val 3810"/>
            </a:avLst>
          </a:prstGeom>
          <a:solidFill>
            <a:srgbClr val="E8F0FB"/>
          </a:solidFill>
          <a:ln w="19050">
            <a:solidFill>
              <a:srgbClr val="0B3C7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1D913-DFD6-F8CC-CC63-A910C5240BA7}"/>
              </a:ext>
            </a:extLst>
          </p:cNvPr>
          <p:cNvSpPr txBox="1"/>
          <p:nvPr/>
        </p:nvSpPr>
        <p:spPr>
          <a:xfrm>
            <a:off x="105722" y="274320"/>
            <a:ext cx="11263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E71319"/>
                </a:solidFill>
                <a:latin typeface="Aptos" panose="020B0004020202020204" pitchFamily="34" charset="0"/>
              </a:rPr>
              <a:t>Disbursement Trend and Grade-Wise Loan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9C0DB-7317-8196-BFBC-39F077C6698A}"/>
              </a:ext>
            </a:extLst>
          </p:cNvPr>
          <p:cNvSpPr txBox="1"/>
          <p:nvPr/>
        </p:nvSpPr>
        <p:spPr>
          <a:xfrm>
            <a:off x="277213" y="4122419"/>
            <a:ext cx="5363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4B8D"/>
                </a:solidFill>
                <a:latin typeface="Aptos" panose="020B0004020202020204" pitchFamily="34" charset="0"/>
              </a:rPr>
              <a:t>Loan disbursements fluctuate significantly over time.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4B8D"/>
                </a:solidFill>
                <a:latin typeface="Aptos" panose="020B0004020202020204" pitchFamily="34" charset="0"/>
              </a:rPr>
              <a:t>A major peak appears in early 2019, followed by a sharp decline.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99EDF9D3-9AB6-BDF7-2BAE-1C1985BA3D17}"/>
              </a:ext>
            </a:extLst>
          </p:cNvPr>
          <p:cNvSpPr/>
          <p:nvPr/>
        </p:nvSpPr>
        <p:spPr>
          <a:xfrm>
            <a:off x="6376759" y="4122419"/>
            <a:ext cx="5615707" cy="1179114"/>
          </a:xfrm>
          <a:prstGeom prst="roundRect">
            <a:avLst>
              <a:gd name="adj" fmla="val 3810"/>
            </a:avLst>
          </a:prstGeom>
          <a:solidFill>
            <a:srgbClr val="E8F0FB"/>
          </a:solidFill>
          <a:ln w="19050">
            <a:solidFill>
              <a:srgbClr val="0B3C7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1908D9-BAEE-FE4B-43BB-57EA666DEBBE}"/>
              </a:ext>
            </a:extLst>
          </p:cNvPr>
          <p:cNvSpPr txBox="1"/>
          <p:nvPr/>
        </p:nvSpPr>
        <p:spPr>
          <a:xfrm>
            <a:off x="6482820" y="4122419"/>
            <a:ext cx="5354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4B8D"/>
                </a:solidFill>
                <a:latin typeface="Aptos" panose="020B0004020202020204" pitchFamily="34" charset="0"/>
              </a:rPr>
              <a:t>Not Categorized represents the largest loan amount.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4B8D"/>
                </a:solidFill>
                <a:latin typeface="Aptos" panose="020B0004020202020204" pitchFamily="34" charset="0"/>
              </a:rPr>
              <a:t>Grade B, C, and A follow, while Grades F and G have the lowest amounts.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B5C43F-3AB4-D3B9-3FC8-745646CF3AE1}"/>
              </a:ext>
            </a:extLst>
          </p:cNvPr>
          <p:cNvSpPr/>
          <p:nvPr/>
        </p:nvSpPr>
        <p:spPr>
          <a:xfrm>
            <a:off x="151285" y="5651369"/>
            <a:ext cx="11792932" cy="932311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810EFE-CA06-4E1D-924A-B6B829B4AB4A}"/>
              </a:ext>
            </a:extLst>
          </p:cNvPr>
          <p:cNvSpPr txBox="1"/>
          <p:nvPr/>
        </p:nvSpPr>
        <p:spPr>
          <a:xfrm>
            <a:off x="310353" y="5937349"/>
            <a:ext cx="1163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Loan disbursements show sharp fluctuations, while the large uncategorized loan segment highlights the need to investigate unusual trends and improve credit-grade classification.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BF09EC-F6F9-03A3-8C42-8DF2598A525E}"/>
              </a:ext>
            </a:extLst>
          </p:cNvPr>
          <p:cNvSpPr txBox="1"/>
          <p:nvPr/>
        </p:nvSpPr>
        <p:spPr>
          <a:xfrm>
            <a:off x="310353" y="5594585"/>
            <a:ext cx="3276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E71319"/>
                </a:solidFill>
                <a:latin typeface="Aptos" panose="020B0004020202020204" pitchFamily="34" charset="0"/>
              </a:rPr>
              <a:t>Insights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355922-3848-27CF-FF8D-F78D53114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59352" y="257622"/>
            <a:ext cx="1734533" cy="4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7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0A1AA-AFEC-A872-2AAC-11C28E70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35CE4F-5C79-D7FA-EB40-BD449DD2A132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3AC02-ABD3-11B6-CCD6-0A4C641C5C00}"/>
              </a:ext>
            </a:extLst>
          </p:cNvPr>
          <p:cNvGrpSpPr/>
          <p:nvPr/>
        </p:nvGrpSpPr>
        <p:grpSpPr>
          <a:xfrm>
            <a:off x="1333734" y="1510676"/>
            <a:ext cx="2875334" cy="1584017"/>
            <a:chOff x="546596" y="1319438"/>
            <a:chExt cx="2875334" cy="1584017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C4C57098-14EC-FD58-99BD-F503BB69DFB9}"/>
                </a:ext>
              </a:extLst>
            </p:cNvPr>
            <p:cNvSpPr/>
            <p:nvPr/>
          </p:nvSpPr>
          <p:spPr>
            <a:xfrm>
              <a:off x="547696" y="1319438"/>
              <a:ext cx="2874234" cy="1584017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1FD279-EC07-D1E7-6013-B5337D8A3A86}"/>
                </a:ext>
              </a:extLst>
            </p:cNvPr>
            <p:cNvSpPr txBox="1"/>
            <p:nvPr/>
          </p:nvSpPr>
          <p:spPr>
            <a:xfrm>
              <a:off x="771191" y="1979521"/>
              <a:ext cx="25358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4B8D"/>
                  </a:solidFill>
                  <a:latin typeface="Aptos" panose="020B0004020202020204" pitchFamily="34" charset="0"/>
                </a:rPr>
                <a:t>FY 2017, FY 2018, FY 2019, FY 2020</a:t>
              </a:r>
              <a:endParaRPr lang="en-IN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3AA080-6BE6-D927-C750-B185E1219464}"/>
                </a:ext>
              </a:extLst>
            </p:cNvPr>
            <p:cNvSpPr txBox="1"/>
            <p:nvPr/>
          </p:nvSpPr>
          <p:spPr>
            <a:xfrm>
              <a:off x="546596" y="1461155"/>
              <a:ext cx="2786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Disbursement Year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9925424-C885-96C5-C881-814C2B289E5B}"/>
              </a:ext>
            </a:extLst>
          </p:cNvPr>
          <p:cNvGrpSpPr/>
          <p:nvPr/>
        </p:nvGrpSpPr>
        <p:grpSpPr>
          <a:xfrm>
            <a:off x="8184585" y="3487250"/>
            <a:ext cx="2922156" cy="1584017"/>
            <a:chOff x="8939123" y="3632147"/>
            <a:chExt cx="2922156" cy="1584017"/>
          </a:xfrm>
        </p:grpSpPr>
        <p:sp>
          <p:nvSpPr>
            <p:cNvPr id="8" name="Shape 1">
              <a:extLst>
                <a:ext uri="{FF2B5EF4-FFF2-40B4-BE49-F238E27FC236}">
                  <a16:creationId xmlns:a16="http://schemas.microsoft.com/office/drawing/2014/main" id="{08261AAB-8629-3D56-FE00-AECA5DB0DAB0}"/>
                </a:ext>
              </a:extLst>
            </p:cNvPr>
            <p:cNvSpPr/>
            <p:nvPr/>
          </p:nvSpPr>
          <p:spPr>
            <a:xfrm>
              <a:off x="8939123" y="3632147"/>
              <a:ext cx="2874234" cy="1584017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9F7989-8DA6-7BBB-7DB3-681AD1E886D1}"/>
                </a:ext>
              </a:extLst>
            </p:cNvPr>
            <p:cNvSpPr txBox="1"/>
            <p:nvPr/>
          </p:nvSpPr>
          <p:spPr>
            <a:xfrm>
              <a:off x="9074870" y="3750404"/>
              <a:ext cx="2786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Age Group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97F2B5-ABD8-533E-D19D-08603475F257}"/>
                </a:ext>
              </a:extLst>
            </p:cNvPr>
            <p:cNvSpPr txBox="1"/>
            <p:nvPr/>
          </p:nvSpPr>
          <p:spPr>
            <a:xfrm>
              <a:off x="9074870" y="4150513"/>
              <a:ext cx="25358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004B8D"/>
                  </a:solidFill>
                  <a:latin typeface="Aptos" panose="020B0004020202020204" pitchFamily="34" charset="0"/>
                </a:rPr>
                <a:t>18–25, 26–35, 36–45, 46–55, 56–63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23FEE9-D509-EFEA-B27D-935684CAB400}"/>
              </a:ext>
            </a:extLst>
          </p:cNvPr>
          <p:cNvGrpSpPr/>
          <p:nvPr/>
        </p:nvGrpSpPr>
        <p:grpSpPr>
          <a:xfrm>
            <a:off x="4762577" y="3490945"/>
            <a:ext cx="2874234" cy="1584017"/>
            <a:chOff x="4990468" y="3212828"/>
            <a:chExt cx="2874234" cy="1584017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9C10FE46-B322-5FC7-C5D9-7428D632D4D7}"/>
                </a:ext>
              </a:extLst>
            </p:cNvPr>
            <p:cNvSpPr/>
            <p:nvPr/>
          </p:nvSpPr>
          <p:spPr>
            <a:xfrm>
              <a:off x="4990468" y="3212828"/>
              <a:ext cx="2874234" cy="1584017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E9C962-3BFF-BCDF-A857-5F4170F7F3E0}"/>
                </a:ext>
              </a:extLst>
            </p:cNvPr>
            <p:cNvSpPr txBox="1"/>
            <p:nvPr/>
          </p:nvSpPr>
          <p:spPr>
            <a:xfrm>
              <a:off x="5153944" y="3777824"/>
              <a:ext cx="25358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4B8D"/>
                  </a:solidFill>
                  <a:latin typeface="Aptos" panose="020B0004020202020204" pitchFamily="34" charset="0"/>
                </a:rPr>
                <a:t>A, B, C, D, E, F, G, Not Captured</a:t>
              </a:r>
              <a:endParaRPr lang="en-IN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0CA882-5082-47A1-0E5F-D5DC8DC94165}"/>
              </a:ext>
            </a:extLst>
          </p:cNvPr>
          <p:cNvGrpSpPr/>
          <p:nvPr/>
        </p:nvGrpSpPr>
        <p:grpSpPr>
          <a:xfrm>
            <a:off x="1329098" y="3472864"/>
            <a:ext cx="2885705" cy="1584017"/>
            <a:chOff x="546596" y="3632148"/>
            <a:chExt cx="2885705" cy="1584017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55079CB3-441C-1DBB-F2BA-64181922E4D1}"/>
                </a:ext>
              </a:extLst>
            </p:cNvPr>
            <p:cNvSpPr/>
            <p:nvPr/>
          </p:nvSpPr>
          <p:spPr>
            <a:xfrm>
              <a:off x="546596" y="3632148"/>
              <a:ext cx="2874234" cy="1584017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E435F7-FAB3-2773-F4FA-BF4CE9C50E44}"/>
                </a:ext>
              </a:extLst>
            </p:cNvPr>
            <p:cNvSpPr txBox="1"/>
            <p:nvPr/>
          </p:nvSpPr>
          <p:spPr>
            <a:xfrm>
              <a:off x="645892" y="3750404"/>
              <a:ext cx="2786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Loan Status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49E247-A82D-DC1D-BC94-B784241D9D99}"/>
                </a:ext>
              </a:extLst>
            </p:cNvPr>
            <p:cNvSpPr txBox="1"/>
            <p:nvPr/>
          </p:nvSpPr>
          <p:spPr>
            <a:xfrm>
              <a:off x="771191" y="4150514"/>
              <a:ext cx="25358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4B8D"/>
                  </a:solidFill>
                  <a:latin typeface="Aptos" panose="020B0004020202020204" pitchFamily="34" charset="0"/>
                </a:rPr>
                <a:t>Active Loan, Cancelled, Fully Paid, NPA, Write Off, and others</a:t>
              </a:r>
              <a:endParaRPr lang="en-IN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EB1D8B1-D5CA-65EC-6C57-6B7833E2E162}"/>
              </a:ext>
            </a:extLst>
          </p:cNvPr>
          <p:cNvGrpSpPr/>
          <p:nvPr/>
        </p:nvGrpSpPr>
        <p:grpSpPr>
          <a:xfrm>
            <a:off x="8151120" y="1513412"/>
            <a:ext cx="2874234" cy="1584017"/>
            <a:chOff x="8771170" y="1499363"/>
            <a:chExt cx="2874234" cy="1584017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D5640449-97B6-79BB-C377-ED91801B09CE}"/>
                </a:ext>
              </a:extLst>
            </p:cNvPr>
            <p:cNvSpPr/>
            <p:nvPr/>
          </p:nvSpPr>
          <p:spPr>
            <a:xfrm>
              <a:off x="8771170" y="1499363"/>
              <a:ext cx="2874234" cy="1584017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F83EAC-722B-70F5-86C0-CE66D25F4F1A}"/>
                </a:ext>
              </a:extLst>
            </p:cNvPr>
            <p:cNvSpPr txBox="1"/>
            <p:nvPr/>
          </p:nvSpPr>
          <p:spPr>
            <a:xfrm>
              <a:off x="8804635" y="1638344"/>
              <a:ext cx="2786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State Name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0CCBBD-48E0-C378-D310-89A541C8738D}"/>
                </a:ext>
              </a:extLst>
            </p:cNvPr>
            <p:cNvSpPr txBox="1"/>
            <p:nvPr/>
          </p:nvSpPr>
          <p:spPr>
            <a:xfrm>
              <a:off x="8934647" y="2046165"/>
              <a:ext cx="25358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004B8D"/>
                  </a:solidFill>
                  <a:latin typeface="Aptos" panose="020B0004020202020204" pitchFamily="34" charset="0"/>
                </a:rPr>
                <a:t>Assam, Bihar, Haryana, Odisha, Punjab, Rajasthan and others.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F298C0-6518-79DC-5086-83FAB2E5EFD2}"/>
              </a:ext>
            </a:extLst>
          </p:cNvPr>
          <p:cNvGrpSpPr/>
          <p:nvPr/>
        </p:nvGrpSpPr>
        <p:grpSpPr>
          <a:xfrm>
            <a:off x="4762577" y="1510675"/>
            <a:ext cx="2874234" cy="1584017"/>
            <a:chOff x="4658883" y="1319437"/>
            <a:chExt cx="2874234" cy="1584017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22CF87D2-E78D-2D67-FE2B-42EDBBC73192}"/>
                </a:ext>
              </a:extLst>
            </p:cNvPr>
            <p:cNvSpPr/>
            <p:nvPr/>
          </p:nvSpPr>
          <p:spPr>
            <a:xfrm>
              <a:off x="4658883" y="1319437"/>
              <a:ext cx="2874234" cy="1584017"/>
            </a:xfrm>
            <a:prstGeom prst="roundRect">
              <a:avLst>
                <a:gd name="adj" fmla="val 3810"/>
              </a:avLst>
            </a:prstGeom>
            <a:solidFill>
              <a:srgbClr val="E8F0FB"/>
            </a:solidFill>
            <a:ln w="19050">
              <a:solidFill>
                <a:srgbClr val="0B3C7D"/>
              </a:solidFill>
              <a:prstDash val="solid"/>
            </a:ln>
          </p:spPr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E91AAC-C723-860B-2618-86A86B7B1E2C}"/>
                </a:ext>
              </a:extLst>
            </p:cNvPr>
            <p:cNvSpPr txBox="1"/>
            <p:nvPr/>
          </p:nvSpPr>
          <p:spPr>
            <a:xfrm>
              <a:off x="4746708" y="1461155"/>
              <a:ext cx="2786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E71319"/>
                  </a:solidFill>
                  <a:latin typeface="Aptos" panose="020B0004020202020204" pitchFamily="34" charset="0"/>
                </a:rPr>
                <a:t>Religion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EF344E-DBAD-0DCB-5B7C-42BBC64C69DA}"/>
                </a:ext>
              </a:extLst>
            </p:cNvPr>
            <p:cNvSpPr txBox="1"/>
            <p:nvPr/>
          </p:nvSpPr>
          <p:spPr>
            <a:xfrm>
              <a:off x="4872007" y="1979520"/>
              <a:ext cx="25358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4B8D"/>
                  </a:solidFill>
                  <a:latin typeface="Aptos" panose="020B0004020202020204" pitchFamily="34" charset="0"/>
                </a:rPr>
                <a:t>Christian, Hindu, Muslim, Sikh, Unknown</a:t>
              </a:r>
              <a:endParaRPr lang="en-IN" dirty="0">
                <a:solidFill>
                  <a:srgbClr val="004B8D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B6A3154-B2E4-6D07-E68B-7E7B9C9E100E}"/>
              </a:ext>
            </a:extLst>
          </p:cNvPr>
          <p:cNvSpPr txBox="1"/>
          <p:nvPr/>
        </p:nvSpPr>
        <p:spPr>
          <a:xfrm>
            <a:off x="4762577" y="3655833"/>
            <a:ext cx="2786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E71319"/>
                </a:solidFill>
                <a:latin typeface="Aptos" panose="020B0004020202020204" pitchFamily="34" charset="0"/>
              </a:rPr>
              <a:t>Grade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5E6B3-4A44-D2C8-0EA1-7229B928BB05}"/>
              </a:ext>
            </a:extLst>
          </p:cNvPr>
          <p:cNvSpPr txBox="1"/>
          <p:nvPr/>
        </p:nvSpPr>
        <p:spPr>
          <a:xfrm>
            <a:off x="160256" y="274320"/>
            <a:ext cx="8117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E71319"/>
                </a:solidFill>
                <a:latin typeface="Aptos" panose="020B0004020202020204" pitchFamily="34" charset="0"/>
              </a:rPr>
              <a:t>Dashboard filters</a:t>
            </a:r>
            <a:endParaRPr lang="en-IN" sz="3200" b="1" dirty="0">
              <a:solidFill>
                <a:srgbClr val="E71319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93B765-3E1D-9C97-9E65-0F589B674B37}"/>
              </a:ext>
            </a:extLst>
          </p:cNvPr>
          <p:cNvSpPr/>
          <p:nvPr/>
        </p:nvSpPr>
        <p:spPr>
          <a:xfrm>
            <a:off x="160256" y="5224141"/>
            <a:ext cx="11792932" cy="932311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2EC140-E7FD-3CF0-0032-143F1EB38DA4}"/>
              </a:ext>
            </a:extLst>
          </p:cNvPr>
          <p:cNvSpPr txBox="1"/>
          <p:nvPr/>
        </p:nvSpPr>
        <p:spPr>
          <a:xfrm>
            <a:off x="160256" y="5241303"/>
            <a:ext cx="117175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E71319"/>
                </a:solidFill>
                <a:latin typeface="Aptos" panose="020B0004020202020204" pitchFamily="34" charset="0"/>
              </a:rPr>
              <a:t>Insights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Used filters for year, religion, state, loan status, grade, and age group to compare loan trends, customer segments, and credit risk.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E8F34E6-D0B2-BDF9-6831-6DC78FE0A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459352" y="257622"/>
            <a:ext cx="1734533" cy="4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98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4627F-6D65-61EC-7813-046BAE98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A2D1AB-1EE5-E8EB-92F0-DBA32C24860B}"/>
              </a:ext>
            </a:extLst>
          </p:cNvPr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E06F0-D496-5A13-D126-796355357828}"/>
              </a:ext>
            </a:extLst>
          </p:cNvPr>
          <p:cNvSpPr txBox="1"/>
          <p:nvPr/>
        </p:nvSpPr>
        <p:spPr>
          <a:xfrm>
            <a:off x="84841" y="274320"/>
            <a:ext cx="614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E71319"/>
                </a:solidFill>
                <a:latin typeface="Aptos" panose="020B0004020202020204" pitchFamily="34" charset="0"/>
              </a:rPr>
              <a:t>Dashboard</a:t>
            </a:r>
            <a:endParaRPr lang="en-IN" sz="3200" b="1" dirty="0">
              <a:solidFill>
                <a:srgbClr val="E71319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41E241-5C65-08C6-07B0-7EBE920B4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5" y="859094"/>
            <a:ext cx="11946904" cy="59282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740A2E-3449-361D-446D-4D74282C0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59352" y="257622"/>
            <a:ext cx="1734533" cy="4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6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439F90-2DD9-E853-052F-354FFA0F3FE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71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2E8202-5956-3623-4DA9-A7AF600DD4D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AEB8B-BDD9-EB11-262B-5EB3483F7FCA}"/>
              </a:ext>
            </a:extLst>
          </p:cNvPr>
          <p:cNvSpPr txBox="1"/>
          <p:nvPr/>
        </p:nvSpPr>
        <p:spPr>
          <a:xfrm>
            <a:off x="141927" y="0"/>
            <a:ext cx="11908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u="sng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u="sng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774D7A-2DCA-763C-D537-F67B8E17A9A7}"/>
              </a:ext>
            </a:extLst>
          </p:cNvPr>
          <p:cNvSpPr txBox="1"/>
          <p:nvPr/>
        </p:nvSpPr>
        <p:spPr>
          <a:xfrm>
            <a:off x="141926" y="1319753"/>
            <a:ext cx="1180183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Analyzed loan performance across 65,535 loans and identified a 1.56% default rate.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Identified 10.84% delinquency, highlighting the need for better loan monitoring.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Credit and debit amounts are nearly balanced at ₹12.76 Cr and ₹12.73 Cr.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Around 20.43% of transactions are high-risk and require closer monitoring.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December shows a sharp drop in transaction volume that needs investigation.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Interactive dashboards help compare performance and support better banking decisions.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931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981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Aptos</vt:lpstr>
      <vt:lpstr>Arial</vt:lpstr>
      <vt:lpstr>Baskerville Old Face</vt:lpstr>
      <vt:lpstr>Bodoni Bd BT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ankum pruthvi</dc:creator>
  <cp:lastModifiedBy>ankum pruthvi</cp:lastModifiedBy>
  <cp:revision>4</cp:revision>
  <dcterms:created xsi:type="dcterms:W3CDTF">2026-10-12T08:25:22Z</dcterms:created>
  <dcterms:modified xsi:type="dcterms:W3CDTF">2026-10-14T08:23:01Z</dcterms:modified>
</cp:coreProperties>
</file>